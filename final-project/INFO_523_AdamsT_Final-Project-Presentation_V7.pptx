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462" r:id="rId2"/>
    <p:sldId id="470" r:id="rId3"/>
    <p:sldId id="471" r:id="rId4"/>
    <p:sldId id="472" r:id="rId5"/>
    <p:sldId id="473" r:id="rId6"/>
    <p:sldId id="486" r:id="rId7"/>
    <p:sldId id="487" r:id="rId8"/>
    <p:sldId id="474" r:id="rId9"/>
    <p:sldId id="475" r:id="rId10"/>
    <p:sldId id="488" r:id="rId11"/>
    <p:sldId id="489" r:id="rId12"/>
    <p:sldId id="476" r:id="rId13"/>
    <p:sldId id="491" r:id="rId14"/>
    <p:sldId id="485" r:id="rId15"/>
  </p:sldIdLst>
  <p:sldSz cx="6858000" cy="5143500"/>
  <p:notesSz cx="6858000" cy="9144000"/>
  <p:defaultTextStyle>
    <a:defPPr>
      <a:defRPr lang="en-US"/>
    </a:defPPr>
    <a:lvl1pPr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1pPr>
    <a:lvl2pPr marL="4572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2pPr>
    <a:lvl3pPr marL="9144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3pPr>
    <a:lvl4pPr marL="13716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4pPr>
    <a:lvl5pPr marL="1828800" algn="ctr" rtl="0" fontAlgn="base">
      <a:spcBef>
        <a:spcPct val="0"/>
      </a:spcBef>
      <a:spcAft>
        <a:spcPct val="0"/>
      </a:spcAft>
      <a:defRPr sz="4200" kern="1200">
        <a:solidFill>
          <a:srgbClr val="000000"/>
        </a:solidFill>
        <a:latin typeface="Gill Sans" charset="0"/>
        <a:ea typeface="ヒラギノ角ゴ ProN W3" charset="0"/>
        <a:cs typeface="ヒラギノ角ゴ ProN W3" charset="0"/>
        <a:sym typeface="Gill Sans" charset="0"/>
      </a:defRPr>
    </a:lvl5pPr>
    <a:lvl6pPr marL="2286000" algn="l" defTabSz="4572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6pPr>
    <a:lvl7pPr marL="2743200" algn="l" defTabSz="4572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7pPr>
    <a:lvl8pPr marL="3200400" algn="l" defTabSz="4572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8pPr>
    <a:lvl9pPr marL="3657600" algn="l" defTabSz="457200" rtl="0" eaLnBrk="1" latinLnBrk="0" hangingPunct="1">
      <a:defRPr sz="4200" kern="1200">
        <a:solidFill>
          <a:srgbClr val="000000"/>
        </a:solidFill>
        <a:latin typeface="Gill Sans" charset="0"/>
        <a:ea typeface="ヒラギノ角ゴ ProN W3" charset="0"/>
        <a:cs typeface="ヒラギノ角ゴ ProN W3" charset="0"/>
        <a:sym typeface="Gill Sans" charset="0"/>
      </a:defRPr>
    </a:lvl9pPr>
  </p:defaultTextStyle>
  <p:extLst>
    <p:ext uri="{EFAFB233-063F-42B5-8137-9DF3F51BA10A}">
      <p15:sldGuideLst xmlns:p15="http://schemas.microsoft.com/office/powerpoint/2012/main">
        <p15:guide id="1" orient="horz" pos="311" userDrawn="1">
          <p15:clr>
            <a:srgbClr val="A4A3A4"/>
          </p15:clr>
        </p15:guide>
        <p15:guide id="2" pos="1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notes"/>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C234B"/>
    <a:srgbClr val="333333"/>
    <a:srgbClr val="AB0520"/>
    <a:srgbClr val="C8D9D8"/>
    <a:srgbClr val="6F868D"/>
    <a:srgbClr val="83B1E3"/>
    <a:srgbClr val="0686EF"/>
    <a:srgbClr val="FAD7AA"/>
    <a:srgbClr val="8BBEE2"/>
    <a:srgbClr val="BE0B34"/>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21" autoAdjust="0"/>
    <p:restoredTop sz="58299" autoAdjust="0"/>
  </p:normalViewPr>
  <p:slideViewPr>
    <p:cSldViewPr snapToGrid="0">
      <p:cViewPr>
        <p:scale>
          <a:sx n="88" d="100"/>
          <a:sy n="88" d="100"/>
        </p:scale>
        <p:origin x="2252" y="12"/>
      </p:cViewPr>
      <p:guideLst>
        <p:guide orient="horz" pos="311"/>
        <p:guide pos="165"/>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9E3684C-F081-544B-8C90-A5795DCABDF2}" type="datetimeFigureOut">
              <a:rPr lang="en-US" smtClean="0"/>
              <a:t>4/27/2026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541DD33-2A06-9443-920E-9A8794B89243}" type="slidenum">
              <a:rPr lang="en-US" smtClean="0"/>
              <a:t>‹#›</a:t>
            </a:fld>
            <a:endParaRPr lang="en-US"/>
          </a:p>
        </p:txBody>
      </p:sp>
    </p:spTree>
    <p:extLst>
      <p:ext uri="{BB962C8B-B14F-4D97-AF65-F5344CB8AC3E}">
        <p14:creationId xmlns:p14="http://schemas.microsoft.com/office/powerpoint/2010/main" val="11450248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Hi, my name is Todd Adams, and I’m a PhD candidate in nursing and a practicing psychiatric mental health nurse practitioner.</a:t>
            </a:r>
          </a:p>
          <a:p>
            <a:endParaRPr lang="en-US" dirty="0"/>
          </a:p>
          <a:p>
            <a:r>
              <a:rPr lang="en-US" dirty="0"/>
              <a:t>This presentation focuses on clustering stability in healthcare data, specifically how the choice of distance metric affects computational phenotyping.</a:t>
            </a:r>
          </a:p>
          <a:p>
            <a:endParaRPr lang="en-US" dirty="0"/>
          </a:p>
          <a:p>
            <a:r>
              <a:rPr lang="en-US" dirty="0"/>
              <a:t>Clustering is widely used to identify patient subgroups, but one key issue is that methodological decisions—like how similarity is defined—are often not carefully evaluated.</a:t>
            </a:r>
          </a:p>
          <a:p>
            <a:endParaRPr lang="en-US" dirty="0"/>
          </a:p>
          <a:p>
            <a:r>
              <a:rPr lang="en-US" dirty="0"/>
              <a:t>The goal of this study is to systematically examine how different distance metrics influence the stability and reproducibility of clustering results.</a:t>
            </a:r>
          </a:p>
          <a:p>
            <a:endParaRPr lang="en-US" dirty="0"/>
          </a:p>
        </p:txBody>
      </p:sp>
      <p:sp>
        <p:nvSpPr>
          <p:cNvPr id="4" name="Slide Number Placeholder 3"/>
          <p:cNvSpPr>
            <a:spLocks noGrp="1"/>
          </p:cNvSpPr>
          <p:nvPr>
            <p:ph type="sldNum" sz="quarter" idx="10"/>
          </p:nvPr>
        </p:nvSpPr>
        <p:spPr/>
        <p:txBody>
          <a:bodyPr/>
          <a:lstStyle/>
          <a:p>
            <a:fld id="{F541DD33-2A06-9443-920E-9A8794B89243}" type="slidenum">
              <a:rPr lang="en-US" smtClean="0"/>
              <a:t>1</a:t>
            </a:fld>
            <a:endParaRPr lang="en-US"/>
          </a:p>
        </p:txBody>
      </p:sp>
    </p:spTree>
    <p:extLst>
      <p:ext uri="{BB962C8B-B14F-4D97-AF65-F5344CB8AC3E}">
        <p14:creationId xmlns:p14="http://schemas.microsoft.com/office/powerpoint/2010/main" val="17601821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clinical background includes critical care and emergency medicine, which exposed me early on to complex, high-risk patient populations and variability in outcomes.</a:t>
            </a:r>
          </a:p>
          <a:p>
            <a:br>
              <a:rPr lang="en-US" dirty="0"/>
            </a:br>
            <a:endParaRPr lang="en-US" dirty="0"/>
          </a:p>
          <a:p>
            <a:r>
              <a:rPr lang="en-US" dirty="0"/>
              <a:t>My research focuses on computational phenotyping in healthcare essentially using data-driven methods to identify meaningful subgroups within patient populations.</a:t>
            </a:r>
          </a:p>
          <a:p>
            <a:r>
              <a:rPr lang="en-US" dirty="0"/>
              <a:t>In particular, I’m interested in identifying subgroups related to readmission risk, especially in Medicaid populations.</a:t>
            </a:r>
          </a:p>
          <a:p>
            <a:br>
              <a:rPr lang="en-US" dirty="0"/>
            </a:br>
            <a:endParaRPr lang="en-US" dirty="0"/>
          </a:p>
          <a:p>
            <a:r>
              <a:rPr lang="en-US" dirty="0"/>
              <a:t>I’m also interested in integrating AI into nursing education, and I’ve had formal training through the NIH AIM-AHEAD machine learning program.</a:t>
            </a:r>
          </a:p>
          <a:p>
            <a:br>
              <a:rPr lang="en-US" dirty="0"/>
            </a:br>
            <a:endParaRPr lang="en-US" dirty="0"/>
          </a:p>
          <a:p>
            <a:r>
              <a:rPr lang="en-US" dirty="0"/>
              <a:t>This project sits at the intersection of those interests specifically, understanding how methodological choices, like distance metrics, affect our ability to identify stable and meaningful patient subgroups.</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2</a:t>
            </a:fld>
            <a:endParaRPr lang="en-US"/>
          </a:p>
        </p:txBody>
      </p:sp>
    </p:spTree>
    <p:extLst>
      <p:ext uri="{BB962C8B-B14F-4D97-AF65-F5344CB8AC3E}">
        <p14:creationId xmlns:p14="http://schemas.microsoft.com/office/powerpoint/2010/main" val="36277908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frame the problem, computational phenotyping—especially clustering—is now widely used in healthcare research.</a:t>
            </a:r>
          </a:p>
          <a:p>
            <a:endParaRPr lang="en-US" dirty="0"/>
          </a:p>
          <a:p>
            <a:r>
              <a:rPr lang="en-US" dirty="0"/>
              <a:t>Most studies focus on outcomes and specific patient populations, such as readmission risk or chronic disease groups.</a:t>
            </a:r>
          </a:p>
          <a:p>
            <a:endParaRPr lang="en-US" dirty="0"/>
          </a:p>
          <a:p>
            <a:r>
              <a:rPr lang="en-US" dirty="0"/>
              <a:t>However, these studies are typically led by clinicians rather than data scientists, so methodological decisions are often not the primary focus.</a:t>
            </a:r>
          </a:p>
          <a:p>
            <a:endParaRPr lang="en-US" dirty="0"/>
          </a:p>
          <a:p>
            <a:r>
              <a:rPr lang="en-US" dirty="0"/>
              <a:t>This is also a rapidly growing area. There are now hundreds of phenotyping studies being registered and many already published.</a:t>
            </a:r>
          </a:p>
          <a:p>
            <a:endParaRPr lang="en-US" dirty="0"/>
          </a:p>
          <a:p>
            <a:r>
              <a:rPr lang="en-US" dirty="0"/>
              <a:t>Despite that growth, there’s a clear gap. Key methodological choices—particularly distance metrics and clustering stability—are often not deeply examined.</a:t>
            </a:r>
          </a:p>
          <a:p>
            <a:endParaRPr lang="en-US" dirty="0"/>
          </a:p>
          <a:p>
            <a:r>
              <a:rPr lang="en-US" dirty="0"/>
              <a:t>So while we are generating clusters, we are not always evaluating how reliable or reproducible those clusters actually are.</a:t>
            </a:r>
          </a:p>
          <a:p>
            <a:endParaRPr lang="en-US" dirty="0"/>
          </a:p>
          <a:p>
            <a:r>
              <a:rPr lang="en-US" dirty="0"/>
              <a:t>That gap is what this study aims to address.</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3</a:t>
            </a:fld>
            <a:endParaRPr lang="en-US"/>
          </a:p>
        </p:txBody>
      </p:sp>
    </p:spTree>
    <p:extLst>
      <p:ext uri="{BB962C8B-B14F-4D97-AF65-F5344CB8AC3E}">
        <p14:creationId xmlns:p14="http://schemas.microsoft.com/office/powerpoint/2010/main" val="10579709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the core research gap that motivated this study.</a:t>
            </a:r>
          </a:p>
          <a:p>
            <a:endParaRPr lang="en-US" dirty="0"/>
          </a:p>
          <a:p>
            <a:r>
              <a:rPr lang="en-US" dirty="0"/>
              <a:t>On the left are the key limitations in the current literature.</a:t>
            </a:r>
          </a:p>
          <a:p>
            <a:endParaRPr lang="en-US" dirty="0"/>
          </a:p>
          <a:p>
            <a:r>
              <a:rPr lang="en-US" dirty="0"/>
              <a:t>First, there is no systematic evaluation of distance metrics in clustering, even though this is a fundamental modeling choice.</a:t>
            </a:r>
          </a:p>
          <a:p>
            <a:endParaRPr lang="en-US" dirty="0"/>
          </a:p>
          <a:p>
            <a:r>
              <a:rPr lang="en-US" dirty="0"/>
              <a:t>Second, there is limited focus on clustering stability. Most studies report clusters, but don’t assess how reproducible those clusters are under different samples or perturbations.</a:t>
            </a:r>
          </a:p>
          <a:p>
            <a:endParaRPr lang="en-US" dirty="0"/>
          </a:p>
          <a:p>
            <a:r>
              <a:rPr lang="en-US" dirty="0"/>
              <a:t>Third, there has been very little work on building true phenotypic taxonomies—structured, reliable subgroup definitions that can be reused or validated.</a:t>
            </a:r>
          </a:p>
          <a:p>
            <a:br>
              <a:rPr lang="en-US" dirty="0"/>
            </a:br>
            <a:endParaRPr lang="en-US" dirty="0"/>
          </a:p>
          <a:p>
            <a:r>
              <a:rPr lang="en-US" dirty="0"/>
              <a:t>On the right is how this study addresses those gaps.</a:t>
            </a:r>
          </a:p>
          <a:p>
            <a:endParaRPr lang="en-US" dirty="0"/>
          </a:p>
          <a:p>
            <a:r>
              <a:rPr lang="en-US" dirty="0"/>
              <a:t>We systematically compare multiple distance metrics rather than assuming one is appropriate.</a:t>
            </a:r>
          </a:p>
          <a:p>
            <a:endParaRPr lang="en-US" dirty="0"/>
          </a:p>
          <a:p>
            <a:r>
              <a:rPr lang="en-US" dirty="0"/>
              <a:t>We evaluate clustering stability using bootstrap methods, which allows us to assess reproducibility across resampled datasets.</a:t>
            </a:r>
          </a:p>
          <a:p>
            <a:endParaRPr lang="en-US" dirty="0"/>
          </a:p>
          <a:p>
            <a:r>
              <a:rPr lang="en-US" dirty="0"/>
              <a:t>We apply this framework to real-world healthcare data using the BRFSS dataset.</a:t>
            </a:r>
          </a:p>
          <a:p>
            <a:endParaRPr lang="en-US" dirty="0"/>
          </a:p>
          <a:p>
            <a:r>
              <a:rPr lang="en-US" dirty="0"/>
              <a:t>And ultimately, the goal is to establish practical guidance for selecting distance metrics in computational phenotyping.</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4</a:t>
            </a:fld>
            <a:endParaRPr lang="en-US"/>
          </a:p>
        </p:txBody>
      </p:sp>
    </p:spTree>
    <p:extLst>
      <p:ext uri="{BB962C8B-B14F-4D97-AF65-F5344CB8AC3E}">
        <p14:creationId xmlns:p14="http://schemas.microsoft.com/office/powerpoint/2010/main" val="39331532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of this study is to evaluate how the choice of distance metric influences clustering stability in healthcare data.</a:t>
            </a:r>
          </a:p>
          <a:p>
            <a:r>
              <a:rPr lang="en-US" dirty="0"/>
              <a:t>We specifically assess stability using a bootstrap framework and quantify it with the Adjusted Rand Index, or ARI.</a:t>
            </a:r>
          </a:p>
          <a:p>
            <a:br>
              <a:rPr lang="en-US" dirty="0"/>
            </a:br>
            <a:endParaRPr lang="en-US" dirty="0"/>
          </a:p>
          <a:p>
            <a:r>
              <a:rPr lang="en-US" dirty="0"/>
              <a:t>In terms of hypotheses, the null hypothesis is that there is no difference in clustering stability across distance metrics.</a:t>
            </a:r>
          </a:p>
          <a:p>
            <a:r>
              <a:rPr lang="en-US" dirty="0"/>
              <a:t>The alternative hypothesis is that clustering stability does differ significantly depending on the metric used.</a:t>
            </a:r>
          </a:p>
          <a:p>
            <a:br>
              <a:rPr lang="en-US" dirty="0"/>
            </a:br>
            <a:endParaRPr lang="en-US" dirty="0"/>
          </a:p>
          <a:p>
            <a:r>
              <a:rPr lang="en-US" dirty="0"/>
              <a:t>For the study design, we used k-medoids clustering, which is more robust to outliers than k-means.</a:t>
            </a:r>
          </a:p>
          <a:p>
            <a:r>
              <a:rPr lang="en-US" dirty="0"/>
              <a:t>We evaluated models across three cluster solutions: k equals 3, 4, and 5.</a:t>
            </a:r>
          </a:p>
          <a:p>
            <a:r>
              <a:rPr lang="en-US" dirty="0"/>
              <a:t>We compared four distance metrics: Euclidean, Manhattan, cosine, and Jaccard.</a:t>
            </a:r>
          </a:p>
          <a:p>
            <a:br>
              <a:rPr lang="en-US" dirty="0"/>
            </a:br>
            <a:endParaRPr lang="en-US" dirty="0"/>
          </a:p>
          <a:p>
            <a:r>
              <a:rPr lang="en-US" dirty="0"/>
              <a:t>For evaluation, we used bootstrap resampling with 100 iterations per condition.</a:t>
            </a:r>
          </a:p>
          <a:p>
            <a:r>
              <a:rPr lang="en-US" dirty="0"/>
              <a:t>This allows us to assess how reproducible the clustering solutions are across different samples.</a:t>
            </a:r>
          </a:p>
          <a:p>
            <a:r>
              <a:rPr lang="en-US" dirty="0"/>
              <a:t>Stability is quantified using ARI, which measures agreement between cluster assignments.</a:t>
            </a:r>
          </a:p>
          <a:p>
            <a:br>
              <a:rPr lang="en-US" dirty="0"/>
            </a:br>
            <a:endParaRPr lang="en-US" dirty="0"/>
          </a:p>
          <a:p>
            <a:r>
              <a:rPr lang="en-US" dirty="0"/>
              <a:t>For statistical testing, we used the Kruskal–Wallis test as the primary method to detect overall differences across metrics.</a:t>
            </a:r>
          </a:p>
          <a:p>
            <a:r>
              <a:rPr lang="en-US" dirty="0"/>
              <a:t>We confirmed those findings using a one-way ANOVA.</a:t>
            </a:r>
          </a:p>
          <a:p>
            <a:r>
              <a:rPr lang="en-US" dirty="0"/>
              <a:t>Then, we conducted pairwise comparisons using the Mann–Whitney U test with Holm correction to control for multiple comparisons.</a:t>
            </a:r>
          </a:p>
          <a:p>
            <a:br>
              <a:rPr lang="en-US" dirty="0"/>
            </a:br>
            <a:endParaRPr lang="en-US" dirty="0"/>
          </a:p>
          <a:p>
            <a:r>
              <a:rPr lang="en-US" dirty="0"/>
              <a:t>Overall, this framework allows us to rigorously compare how different distance metrics affect the stability of clustering results.</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5</a:t>
            </a:fld>
            <a:endParaRPr lang="en-US"/>
          </a:p>
        </p:txBody>
      </p:sp>
    </p:spTree>
    <p:extLst>
      <p:ext uri="{BB962C8B-B14F-4D97-AF65-F5344CB8AC3E}">
        <p14:creationId xmlns:p14="http://schemas.microsoft.com/office/powerpoint/2010/main" val="4110041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study uses data from the Behavioral Risk Factor Surveillance System, or BRFSS.</a:t>
            </a:r>
          </a:p>
          <a:p>
            <a:r>
              <a:rPr lang="en-US" dirty="0"/>
              <a:t>Specifically, we used the 2024 dataset, which is a large national survey coordinated by the CDC and conducted across all U.S. states and territories.</a:t>
            </a:r>
          </a:p>
          <a:p>
            <a:r>
              <a:rPr lang="en-US" dirty="0"/>
              <a:t>It includes roughly 450,000 adult respondents, making it well-suited for population-level health analysis.</a:t>
            </a:r>
          </a:p>
          <a:p>
            <a:br>
              <a:rPr lang="en-US" dirty="0"/>
            </a:br>
            <a:endParaRPr lang="en-US" dirty="0"/>
          </a:p>
          <a:p>
            <a:r>
              <a:rPr lang="en-US" dirty="0"/>
              <a:t>In terms of content, the dataset captures a broad range of variables, including overall health status, chronic conditions, health behaviors, and access to care.</a:t>
            </a:r>
          </a:p>
          <a:p>
            <a:r>
              <a:rPr lang="en-US" dirty="0"/>
              <a:t>This makes it particularly useful for computational phenotyping because it reflects real-world, multidimensional health profiles.</a:t>
            </a:r>
          </a:p>
          <a:p>
            <a:br>
              <a:rPr lang="en-US" dirty="0"/>
            </a:br>
            <a:endParaRPr lang="en-US" dirty="0"/>
          </a:p>
          <a:p>
            <a:r>
              <a:rPr lang="en-US" dirty="0"/>
              <a:t>The sampling design is based on stratified random sampling and includes both landline and mobile respondents.</a:t>
            </a:r>
          </a:p>
          <a:p>
            <a:r>
              <a:rPr lang="en-US" dirty="0"/>
              <a:t>Population weights are provided to support national estimates.</a:t>
            </a:r>
          </a:p>
          <a:p>
            <a:br>
              <a:rPr lang="en-US" dirty="0"/>
            </a:br>
            <a:endParaRPr lang="en-US" dirty="0"/>
          </a:p>
          <a:p>
            <a:r>
              <a:rPr lang="en-US" dirty="0"/>
              <a:t>However, for this study, the analytic focus is methodological rather than inferential.</a:t>
            </a:r>
          </a:p>
          <a:p>
            <a:r>
              <a:rPr lang="en-US" dirty="0"/>
              <a:t>So all analyses were conducted on unweighted data.</a:t>
            </a:r>
          </a:p>
          <a:p>
            <a:br>
              <a:rPr lang="en-US" dirty="0"/>
            </a:br>
            <a:endParaRPr lang="en-US" dirty="0"/>
          </a:p>
          <a:p>
            <a:r>
              <a:rPr lang="en-US" dirty="0"/>
              <a:t>The rationale for this decision is that weighting can distort distance relationships between observations, which are critical for clustering.</a:t>
            </a:r>
          </a:p>
          <a:p>
            <a:r>
              <a:rPr lang="en-US" dirty="0"/>
              <a:t>By using unweighted data, we preserve the intrinsic structure of the feature space, allowing for a more valid comparison of distance metrics.</a:t>
            </a:r>
          </a:p>
          <a:p>
            <a:br>
              <a:rPr lang="en-US" dirty="0"/>
            </a:br>
            <a:endParaRPr lang="en-US" dirty="0"/>
          </a:p>
          <a:p>
            <a:r>
              <a:rPr lang="en-US" dirty="0"/>
              <a:t>So overall, this dataset provides a large, diverse, and realistic foundation for evaluating clustering stability in healthcare data.</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6</a:t>
            </a:fld>
            <a:endParaRPr lang="en-US"/>
          </a:p>
        </p:txBody>
      </p:sp>
    </p:spTree>
    <p:extLst>
      <p:ext uri="{BB962C8B-B14F-4D97-AF65-F5344CB8AC3E}">
        <p14:creationId xmlns:p14="http://schemas.microsoft.com/office/powerpoint/2010/main" val="2608681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the data processing pipeline and how we reduced the dataset for analysis.</a:t>
            </a:r>
          </a:p>
          <a:p>
            <a:r>
              <a:rPr lang="en-US" dirty="0"/>
              <a:t>We started with the full BRFSS dataset, which included about 457,000 observations and 301 variables.</a:t>
            </a:r>
          </a:p>
          <a:p>
            <a:br>
              <a:rPr lang="en-US" dirty="0"/>
            </a:br>
            <a:endParaRPr lang="en-US" dirty="0"/>
          </a:p>
          <a:p>
            <a:r>
              <a:rPr lang="en-US" dirty="0"/>
              <a:t>We then performed variable selection, reducing the dataset to 21 features that were most relevant for clustering.</a:t>
            </a:r>
          </a:p>
          <a:p>
            <a:br>
              <a:rPr lang="en-US" dirty="0"/>
            </a:br>
            <a:endParaRPr lang="en-US" dirty="0"/>
          </a:p>
          <a:p>
            <a:r>
              <a:rPr lang="en-US" dirty="0"/>
              <a:t>Next, we removed cases with missing data, resulting in a complete-case dataset of about 62,000 observations.</a:t>
            </a:r>
          </a:p>
          <a:p>
            <a:r>
              <a:rPr lang="en-US" dirty="0"/>
              <a:t>This step ensures that distance calculations are valid and not biased by missingness.</a:t>
            </a:r>
          </a:p>
          <a:p>
            <a:br>
              <a:rPr lang="en-US" dirty="0"/>
            </a:br>
            <a:endParaRPr lang="en-US" dirty="0"/>
          </a:p>
          <a:p>
            <a:r>
              <a:rPr lang="en-US" dirty="0"/>
              <a:t>We then applied encoding and scaling to prepare the data for clustering.</a:t>
            </a:r>
          </a:p>
          <a:p>
            <a:r>
              <a:rPr lang="en-US" dirty="0"/>
              <a:t>This is especially important because many distance metrics are sensitive to differences in scale across variables.</a:t>
            </a:r>
          </a:p>
          <a:p>
            <a:br>
              <a:rPr lang="en-US" dirty="0"/>
            </a:br>
            <a:endParaRPr lang="en-US" dirty="0"/>
          </a:p>
          <a:p>
            <a:r>
              <a:rPr lang="en-US" dirty="0"/>
              <a:t>From this processed dataset, we created a final analytic sample of 3,000 observations using random subsampling.</a:t>
            </a:r>
          </a:p>
          <a:p>
            <a:r>
              <a:rPr lang="en-US" dirty="0"/>
              <a:t>This allows us to maintain computational feasibility while still preserving the overall structure of the data.</a:t>
            </a:r>
          </a:p>
          <a:p>
            <a:br>
              <a:rPr lang="en-US" dirty="0"/>
            </a:br>
            <a:endParaRPr lang="en-US" dirty="0"/>
          </a:p>
          <a:p>
            <a:r>
              <a:rPr lang="en-US" dirty="0"/>
              <a:t>In addition, we constructed a separate dataset for Jaccard distance using binary encoding, since Jaccard requires binary features.</a:t>
            </a:r>
          </a:p>
          <a:p>
            <a:br>
              <a:rPr lang="en-US" dirty="0"/>
            </a:br>
            <a:endParaRPr lang="en-US" dirty="0"/>
          </a:p>
          <a:p>
            <a:r>
              <a:rPr lang="en-US" dirty="0"/>
              <a:t>On the right is the rationale behind these decisions.</a:t>
            </a:r>
          </a:p>
          <a:p>
            <a:r>
              <a:rPr lang="en-US" dirty="0"/>
              <a:t>We focus on complete-case data to ensure valid distance calculations.</a:t>
            </a:r>
          </a:p>
          <a:p>
            <a:r>
              <a:rPr lang="en-US" dirty="0"/>
              <a:t>Feature selection improves the signal-to-noise ratio.</a:t>
            </a:r>
          </a:p>
          <a:p>
            <a:r>
              <a:rPr lang="en-US" dirty="0"/>
              <a:t>Scaling ensures comparability across variables.</a:t>
            </a:r>
          </a:p>
          <a:p>
            <a:br>
              <a:rPr lang="en-US" dirty="0"/>
            </a:br>
            <a:endParaRPr lang="en-US" dirty="0"/>
          </a:p>
          <a:p>
            <a:r>
              <a:rPr lang="en-US" dirty="0"/>
              <a:t>Subsampling allows us to run bootstrap analyses efficiently while maintaining the underlying distribution of the data.</a:t>
            </a:r>
          </a:p>
          <a:p>
            <a:r>
              <a:rPr lang="en-US" dirty="0"/>
              <a:t>And finally, binary encoding is necessary for applying the Jaccard distance metric.</a:t>
            </a:r>
          </a:p>
          <a:p>
            <a:br>
              <a:rPr lang="en-US" dirty="0"/>
            </a:br>
            <a:endParaRPr lang="en-US" dirty="0"/>
          </a:p>
          <a:p>
            <a:r>
              <a:rPr lang="en-US" dirty="0"/>
              <a:t>Overall, this pipeline balances methodological rigor with computational feasibility.</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7</a:t>
            </a:fld>
            <a:endParaRPr lang="en-US"/>
          </a:p>
        </p:txBody>
      </p:sp>
    </p:spTree>
    <p:extLst>
      <p:ext uri="{BB962C8B-B14F-4D97-AF65-F5344CB8AC3E}">
        <p14:creationId xmlns:p14="http://schemas.microsoft.com/office/powerpoint/2010/main" val="1302706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how the dataset changes across each stage of processing.</a:t>
            </a:r>
          </a:p>
          <a:p>
            <a:r>
              <a:rPr lang="en-US" dirty="0"/>
              <a:t>We begin with the full dataset of about 457,000 observations and 301 variables.</a:t>
            </a:r>
          </a:p>
          <a:p>
            <a:br>
              <a:rPr lang="en-US" dirty="0"/>
            </a:br>
            <a:endParaRPr lang="en-US" dirty="0"/>
          </a:p>
          <a:p>
            <a:r>
              <a:rPr lang="en-US" dirty="0"/>
              <a:t>After variable selection, the number of features is reduced substantially to 21, while the number of observations remains the same.</a:t>
            </a:r>
          </a:p>
          <a:p>
            <a:r>
              <a:rPr lang="en-US" dirty="0"/>
              <a:t>This step focuses the analysis on the most relevant variables.</a:t>
            </a:r>
          </a:p>
          <a:p>
            <a:br>
              <a:rPr lang="en-US" dirty="0"/>
            </a:br>
            <a:endParaRPr lang="en-US" dirty="0"/>
          </a:p>
          <a:p>
            <a:r>
              <a:rPr lang="en-US" dirty="0"/>
              <a:t>The largest reduction in sample size occurs after removing missing data.</a:t>
            </a:r>
          </a:p>
          <a:p>
            <a:r>
              <a:rPr lang="en-US" dirty="0"/>
              <a:t>At this stage, the dataset drops to about 62,000 complete cases.</a:t>
            </a:r>
          </a:p>
          <a:p>
            <a:r>
              <a:rPr lang="en-US" dirty="0"/>
              <a:t>This is an important step to ensure valid distance calculations for clustering.</a:t>
            </a:r>
          </a:p>
          <a:p>
            <a:br>
              <a:rPr lang="en-US" dirty="0"/>
            </a:br>
            <a:endParaRPr lang="en-US" dirty="0"/>
          </a:p>
          <a:p>
            <a:r>
              <a:rPr lang="en-US" dirty="0"/>
              <a:t>Next, after encoding and scaling, we take a random subsample of 3,000 observations for the final analytic dataset.</a:t>
            </a:r>
          </a:p>
          <a:p>
            <a:r>
              <a:rPr lang="en-US" dirty="0"/>
              <a:t>The number of features increases slightly here due to encoding, which expands some variables into multiple dimensions.</a:t>
            </a:r>
          </a:p>
          <a:p>
            <a:br>
              <a:rPr lang="en-US" dirty="0"/>
            </a:br>
            <a:endParaRPr lang="en-US" dirty="0"/>
          </a:p>
          <a:p>
            <a:r>
              <a:rPr lang="en-US" dirty="0"/>
              <a:t>For the Jaccard analysis, we construct a separate binary dataset with 9 features, since Jaccard requires binary inputs.</a:t>
            </a:r>
          </a:p>
          <a:p>
            <a:br>
              <a:rPr lang="en-US" dirty="0"/>
            </a:br>
            <a:endParaRPr lang="en-US" dirty="0"/>
          </a:p>
          <a:p>
            <a:r>
              <a:rPr lang="en-US" dirty="0"/>
              <a:t>The key takeaway is that the most substantial data reduction happens during complete-case filtering, followed by intentional subsampling to support computational feasibility and bootstrap analysis.</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8</a:t>
            </a:fld>
            <a:endParaRPr lang="en-US"/>
          </a:p>
        </p:txBody>
      </p:sp>
    </p:spTree>
    <p:extLst>
      <p:ext uri="{BB962C8B-B14F-4D97-AF65-F5344CB8AC3E}">
        <p14:creationId xmlns:p14="http://schemas.microsoft.com/office/powerpoint/2010/main" val="22358870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outlines the clustering approach and the distance metrics evaluated.</a:t>
            </a:r>
          </a:p>
          <a:p>
            <a:r>
              <a:rPr lang="en-US" dirty="0"/>
              <a:t>We use k-medoids clustering, which partitions the data into k clusters using representative observations called medoids.</a:t>
            </a:r>
          </a:p>
          <a:p>
            <a:br>
              <a:rPr lang="en-US" dirty="0"/>
            </a:br>
            <a:endParaRPr lang="en-US" dirty="0"/>
          </a:p>
          <a:p>
            <a:r>
              <a:rPr lang="en-US" dirty="0"/>
              <a:t>Unlike k-means, which uses centroids, k-medoids selects actual data points as cluster centers.</a:t>
            </a:r>
          </a:p>
          <a:p>
            <a:r>
              <a:rPr lang="en-US" dirty="0"/>
              <a:t>Clusters are formed by minimizing the distance between observations and their assigned medoid.</a:t>
            </a:r>
          </a:p>
          <a:p>
            <a:br>
              <a:rPr lang="en-US" dirty="0"/>
            </a:br>
            <a:endParaRPr lang="en-US" dirty="0"/>
          </a:p>
          <a:p>
            <a:r>
              <a:rPr lang="en-US" dirty="0"/>
              <a:t>One advantage of k-medoids is that it is more robust to outliers, which is important in healthcare data where extreme values are common.</a:t>
            </a:r>
          </a:p>
          <a:p>
            <a:br>
              <a:rPr lang="en-US" dirty="0"/>
            </a:br>
            <a:endParaRPr lang="en-US" dirty="0"/>
          </a:p>
          <a:p>
            <a:r>
              <a:rPr lang="en-US" dirty="0"/>
              <a:t>We evaluate clustering solutions across k equals 3, 4, and 5 to assess how stability changes with different levels of granularity.</a:t>
            </a:r>
          </a:p>
          <a:p>
            <a:br>
              <a:rPr lang="en-US" dirty="0"/>
            </a:br>
            <a:endParaRPr lang="en-US" dirty="0"/>
          </a:p>
          <a:p>
            <a:r>
              <a:rPr lang="en-US" dirty="0"/>
              <a:t>We also evaluate each clustering solution across multiple distance metrics, which is the central focus of this study.</a:t>
            </a:r>
          </a:p>
          <a:p>
            <a:br>
              <a:rPr lang="en-US" dirty="0"/>
            </a:br>
            <a:endParaRPr lang="en-US" dirty="0"/>
          </a:p>
          <a:p>
            <a:r>
              <a:rPr lang="en-US" dirty="0"/>
              <a:t>On the right are the four distance metrics we compare.</a:t>
            </a:r>
          </a:p>
          <a:p>
            <a:r>
              <a:rPr lang="en-US" dirty="0"/>
              <a:t>Euclidean distance measures straight-line distance and is sensitive to scale.</a:t>
            </a:r>
          </a:p>
          <a:p>
            <a:r>
              <a:rPr lang="en-US" dirty="0"/>
              <a:t>Manhattan distance measures the sum of absolute differences, similar to moving along a grid.</a:t>
            </a:r>
          </a:p>
          <a:p>
            <a:br>
              <a:rPr lang="en-US" dirty="0"/>
            </a:br>
            <a:endParaRPr lang="en-US" dirty="0"/>
          </a:p>
          <a:p>
            <a:r>
              <a:rPr lang="en-US" dirty="0"/>
              <a:t>Cosine distance measures similarity based on the angle between vectors, focusing on direction rather than magnitude.</a:t>
            </a:r>
          </a:p>
          <a:p>
            <a:r>
              <a:rPr lang="en-US" dirty="0"/>
              <a:t>Jaccard distance measures similarity between binary features and is based on shared presence rather than overall magnitude.</a:t>
            </a:r>
          </a:p>
          <a:p>
            <a:br>
              <a:rPr lang="en-US" dirty="0"/>
            </a:br>
            <a:endParaRPr lang="en-US" dirty="0"/>
          </a:p>
          <a:p>
            <a:r>
              <a:rPr lang="en-US" dirty="0"/>
              <a:t>The key idea is that the choice of distance metric fundamentally defines what we mean by similarity in clustering.</a:t>
            </a:r>
          </a:p>
          <a:p>
            <a:r>
              <a:rPr lang="en-US" dirty="0"/>
              <a:t>And that choice can significantly influence the resulting cluster structure and its stability.</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9</a:t>
            </a:fld>
            <a:endParaRPr lang="en-US"/>
          </a:p>
        </p:txBody>
      </p:sp>
    </p:spTree>
    <p:extLst>
      <p:ext uri="{BB962C8B-B14F-4D97-AF65-F5344CB8AC3E}">
        <p14:creationId xmlns:p14="http://schemas.microsoft.com/office/powerpoint/2010/main" val="2511159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primary results on clustering stability, measured using the Adjusted Rand Index.</a:t>
            </a:r>
          </a:p>
          <a:p>
            <a:r>
              <a:rPr lang="en-US" dirty="0"/>
              <a:t>Overall, stability varied significantly across the distance metrics.</a:t>
            </a:r>
          </a:p>
          <a:p>
            <a:br>
              <a:rPr lang="en-US" dirty="0"/>
            </a:br>
            <a:endParaRPr lang="en-US" dirty="0"/>
          </a:p>
          <a:p>
            <a:r>
              <a:rPr lang="en-US" dirty="0"/>
              <a:t>Jaccard consistently produced the highest stability across all values of k, with ARI values ranging from about 0.47 to 0.56.</a:t>
            </a:r>
          </a:p>
          <a:p>
            <a:r>
              <a:rPr lang="en-US" dirty="0"/>
              <a:t>This represents a substantial improvement compared to the other metrics.</a:t>
            </a:r>
          </a:p>
          <a:p>
            <a:br>
              <a:rPr lang="en-US" dirty="0"/>
            </a:br>
            <a:endParaRPr lang="en-US" dirty="0"/>
          </a:p>
          <a:p>
            <a:r>
              <a:rPr lang="en-US" dirty="0"/>
              <a:t>Cosine distance showed moderate stability, generally in the range of about 0.27 to 0.29.</a:t>
            </a:r>
          </a:p>
          <a:p>
            <a:r>
              <a:rPr lang="en-US" dirty="0"/>
              <a:t>Manhattan and Euclidean performed the worst, with lower ARI values overall.</a:t>
            </a:r>
          </a:p>
          <a:p>
            <a:br>
              <a:rPr lang="en-US" dirty="0"/>
            </a:br>
            <a:endParaRPr lang="en-US" dirty="0"/>
          </a:p>
          <a:p>
            <a:r>
              <a:rPr lang="en-US" dirty="0"/>
              <a:t>On the right, the statistical testing confirms these differences.</a:t>
            </a:r>
          </a:p>
          <a:p>
            <a:r>
              <a:rPr lang="en-US" dirty="0"/>
              <a:t>The Kruskal–Wallis test showed a highly significant difference across metrics.</a:t>
            </a:r>
          </a:p>
          <a:p>
            <a:r>
              <a:rPr lang="en-US" dirty="0"/>
              <a:t>This was confirmed with ANOVA.</a:t>
            </a:r>
          </a:p>
          <a:p>
            <a:br>
              <a:rPr lang="en-US" dirty="0"/>
            </a:br>
            <a:endParaRPr lang="en-US" dirty="0"/>
          </a:p>
          <a:p>
            <a:r>
              <a:rPr lang="en-US" dirty="0"/>
              <a:t>We also observed a consistent ranking across all clustering configurations.</a:t>
            </a:r>
          </a:p>
          <a:p>
            <a:r>
              <a:rPr lang="en-US" dirty="0"/>
              <a:t>Jaccard performed best, followed by cosine, then Manhattan, and finally Euclidean.</a:t>
            </a:r>
          </a:p>
          <a:p>
            <a:br>
              <a:rPr lang="en-US" dirty="0"/>
            </a:br>
            <a:endParaRPr lang="en-US" dirty="0"/>
          </a:p>
          <a:p>
            <a:r>
              <a:rPr lang="en-US" dirty="0"/>
              <a:t>At the bottom, Table 2 provides the exact mean ARI values for each metric and each value of k.</a:t>
            </a:r>
          </a:p>
          <a:p>
            <a:r>
              <a:rPr lang="en-US" dirty="0"/>
              <a:t>You can see that Jaccard improves as k increases, while the other metrics remain relatively flat.</a:t>
            </a:r>
          </a:p>
          <a:p>
            <a:br>
              <a:rPr lang="en-US" dirty="0"/>
            </a:br>
            <a:endParaRPr lang="en-US" dirty="0"/>
          </a:p>
          <a:p>
            <a:r>
              <a:rPr lang="en-US" dirty="0"/>
              <a:t>The key takeaway is that the choice of distance metric has a large and consistent impact on clustering stability.</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10</a:t>
            </a:fld>
            <a:endParaRPr lang="en-US"/>
          </a:p>
        </p:txBody>
      </p:sp>
    </p:spTree>
    <p:extLst>
      <p:ext uri="{BB962C8B-B14F-4D97-AF65-F5344CB8AC3E}">
        <p14:creationId xmlns:p14="http://schemas.microsoft.com/office/powerpoint/2010/main" val="28224646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builds on the previous results by showing the full distribution of clustering stability across distance metrics.</a:t>
            </a:r>
          </a:p>
          <a:p>
            <a:r>
              <a:rPr lang="en-US" dirty="0"/>
              <a:t>At the top, Figure 2 shows boxplots of ARI values across bootstrap samples.</a:t>
            </a:r>
          </a:p>
          <a:p>
            <a:br>
              <a:rPr lang="en-US" dirty="0"/>
            </a:br>
            <a:endParaRPr lang="en-US" dirty="0"/>
          </a:p>
          <a:p>
            <a:r>
              <a:rPr lang="en-US" dirty="0"/>
              <a:t>The key takeaway here is how clearly separated Jaccard is from the other metrics.</a:t>
            </a:r>
          </a:p>
          <a:p>
            <a:r>
              <a:rPr lang="en-US" dirty="0"/>
              <a:t>Its entire distribution is shifted upward, meaning higher stability across almost all resamples.</a:t>
            </a:r>
          </a:p>
          <a:p>
            <a:br>
              <a:rPr lang="en-US" dirty="0"/>
            </a:br>
            <a:endParaRPr lang="en-US" dirty="0"/>
          </a:p>
          <a:p>
            <a:r>
              <a:rPr lang="en-US" dirty="0"/>
              <a:t>You can also see that Jaccard has a higher median and a wider spread.</a:t>
            </a:r>
          </a:p>
          <a:p>
            <a:r>
              <a:rPr lang="en-US" dirty="0"/>
              <a:t>That wider spread isn’t a weakness—it reflects the ability to achieve very high stability in many cases.</a:t>
            </a:r>
          </a:p>
          <a:p>
            <a:br>
              <a:rPr lang="en-US" dirty="0"/>
            </a:br>
            <a:endParaRPr lang="en-US" dirty="0"/>
          </a:p>
          <a:p>
            <a:r>
              <a:rPr lang="en-US" dirty="0"/>
              <a:t>In contrast, Euclidean, Manhattan, and cosine all cluster much lower.</a:t>
            </a:r>
          </a:p>
          <a:p>
            <a:r>
              <a:rPr lang="en-US" dirty="0"/>
              <a:t>They also overlap heavily with each other, suggesting limited differentiation in performance.</a:t>
            </a:r>
          </a:p>
          <a:p>
            <a:br>
              <a:rPr lang="en-US" dirty="0"/>
            </a:br>
            <a:endParaRPr lang="en-US" dirty="0"/>
          </a:p>
          <a:p>
            <a:r>
              <a:rPr lang="en-US" dirty="0"/>
              <a:t>Importantly, while those metrics occasionally reach higher ARI values, those cases are inconsistent and not reliable.</a:t>
            </a:r>
          </a:p>
          <a:p>
            <a:br>
              <a:rPr lang="en-US" dirty="0"/>
            </a:br>
            <a:endParaRPr lang="en-US" dirty="0"/>
          </a:p>
          <a:p>
            <a:r>
              <a:rPr lang="en-US" dirty="0"/>
              <a:t>At the bottom, Figure 3 shows how stability changes as we increase the number of clusters.</a:t>
            </a:r>
          </a:p>
          <a:p>
            <a:r>
              <a:rPr lang="en-US" dirty="0"/>
              <a:t>Jaccard improves steadily as k increases, indicating better resolution of subgroup structure.</a:t>
            </a:r>
          </a:p>
          <a:p>
            <a:br>
              <a:rPr lang="en-US" dirty="0"/>
            </a:br>
            <a:endParaRPr lang="en-US" dirty="0"/>
          </a:p>
          <a:p>
            <a:r>
              <a:rPr lang="en-US" dirty="0"/>
              <a:t>The other metrics are relatively flat, and cosine even declines slightly with increasing k.</a:t>
            </a:r>
          </a:p>
          <a:p>
            <a:br>
              <a:rPr lang="en-US" dirty="0"/>
            </a:br>
            <a:endParaRPr lang="en-US" dirty="0"/>
          </a:p>
          <a:p>
            <a:r>
              <a:rPr lang="en-US" dirty="0"/>
              <a:t>So overall, these figures reinforce two key points:</a:t>
            </a:r>
          </a:p>
          <a:p>
            <a:r>
              <a:rPr lang="en-US" dirty="0"/>
              <a:t>Jaccard not only improves average stability, but fundamentally shifts the entire distribution toward more reproducible clustering outcomes.</a:t>
            </a:r>
          </a:p>
          <a:p>
            <a:r>
              <a:rPr lang="en-US" dirty="0"/>
              <a:t>And that advantage becomes even stronger as we move to more granular clustering.</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11</a:t>
            </a:fld>
            <a:endParaRPr lang="en-US"/>
          </a:p>
        </p:txBody>
      </p:sp>
    </p:spTree>
    <p:extLst>
      <p:ext uri="{BB962C8B-B14F-4D97-AF65-F5344CB8AC3E}">
        <p14:creationId xmlns:p14="http://schemas.microsoft.com/office/powerpoint/2010/main" val="2223761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moves from results into interpretation and what those findings actually mean.</a:t>
            </a:r>
          </a:p>
          <a:p>
            <a:br>
              <a:rPr lang="en-US" dirty="0"/>
            </a:br>
            <a:endParaRPr lang="en-US" dirty="0"/>
          </a:p>
          <a:p>
            <a:r>
              <a:rPr lang="en-US" dirty="0"/>
              <a:t>Starting on the left, the key takeaway is that distance metric choice is not a minor detail—it fundamentally drives clustering outcomes.</a:t>
            </a:r>
          </a:p>
          <a:p>
            <a:r>
              <a:rPr lang="en-US" dirty="0"/>
              <a:t>Different metrics are effectively defining “similarity” in different ways, which leads to very different subgroup structures.</a:t>
            </a:r>
          </a:p>
          <a:p>
            <a:br>
              <a:rPr lang="en-US" dirty="0"/>
            </a:br>
            <a:endParaRPr lang="en-US" dirty="0"/>
          </a:p>
          <a:p>
            <a:r>
              <a:rPr lang="en-US" dirty="0"/>
              <a:t>Jaccard stands out because it captures similarity based on shared presence of features, which seems to align better with this type of data.</a:t>
            </a:r>
          </a:p>
          <a:p>
            <a:r>
              <a:rPr lang="en-US" dirty="0"/>
              <a:t>Especially in binary or sparse clinical data, that definition of similarity appears more meaningful.</a:t>
            </a:r>
          </a:p>
          <a:p>
            <a:br>
              <a:rPr lang="en-US" dirty="0"/>
            </a:br>
            <a:endParaRPr lang="en-US" dirty="0"/>
          </a:p>
          <a:p>
            <a:r>
              <a:rPr lang="en-US" dirty="0"/>
              <a:t>We also see that higher ARI corresponds to more reproducible phenotypes.</a:t>
            </a:r>
          </a:p>
          <a:p>
            <a:r>
              <a:rPr lang="en-US" dirty="0"/>
              <a:t>So this isn’t just a statistical improvement—it translates into more reliable subgroup identification.</a:t>
            </a:r>
          </a:p>
          <a:p>
            <a:br>
              <a:rPr lang="en-US" dirty="0"/>
            </a:br>
            <a:endParaRPr lang="en-US" dirty="0"/>
          </a:p>
          <a:p>
            <a:r>
              <a:rPr lang="en-US" dirty="0"/>
              <a:t>The improvement with increasing k is also important.</a:t>
            </a:r>
          </a:p>
          <a:p>
            <a:r>
              <a:rPr lang="en-US" dirty="0"/>
              <a:t>It suggests that with the right metric, we can identify more granular subgroups without sacrificing stability.</a:t>
            </a:r>
          </a:p>
          <a:p>
            <a:br>
              <a:rPr lang="en-US" dirty="0"/>
            </a:br>
            <a:endParaRPr lang="en-US" dirty="0"/>
          </a:p>
          <a:p>
            <a:r>
              <a:rPr lang="en-US" dirty="0"/>
              <a:t>On the right side, these findings have some clear implications.</a:t>
            </a:r>
          </a:p>
          <a:p>
            <a:r>
              <a:rPr lang="en-US" dirty="0"/>
              <a:t>First, distance metric selection should be treated as a primary modeling decision, not an afterthought.</a:t>
            </a:r>
          </a:p>
          <a:p>
            <a:br>
              <a:rPr lang="en-US" dirty="0"/>
            </a:br>
            <a:endParaRPr lang="en-US" dirty="0"/>
          </a:p>
          <a:p>
            <a:r>
              <a:rPr lang="en-US" dirty="0"/>
              <a:t>Second, binary similarity approaches—like Jaccard—may be better suited for phenotyping tasks, especially in high-dimensional clinical datasets.</a:t>
            </a:r>
          </a:p>
          <a:p>
            <a:br>
              <a:rPr lang="en-US" dirty="0"/>
            </a:br>
            <a:endParaRPr lang="en-US" dirty="0"/>
          </a:p>
          <a:p>
            <a:r>
              <a:rPr lang="en-US" dirty="0"/>
              <a:t>Third, Jaccard’s consistent performance suggests it may be a strong default choice in these contexts.</a:t>
            </a:r>
          </a:p>
          <a:p>
            <a:br>
              <a:rPr lang="en-US" dirty="0"/>
            </a:br>
            <a:endParaRPr lang="en-US" dirty="0"/>
          </a:p>
          <a:p>
            <a:r>
              <a:rPr lang="en-US" dirty="0"/>
              <a:t>And ultimately, the impact is practical: more reliable subgroup identification and better reproducibility, which are critical for clinical and research applications.</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12</a:t>
            </a:fld>
            <a:endParaRPr lang="en-US"/>
          </a:p>
        </p:txBody>
      </p:sp>
    </p:spTree>
    <p:extLst>
      <p:ext uri="{BB962C8B-B14F-4D97-AF65-F5344CB8AC3E}">
        <p14:creationId xmlns:p14="http://schemas.microsoft.com/office/powerpoint/2010/main" val="357737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key limitations of the study and where future work should go.</a:t>
            </a:r>
          </a:p>
          <a:p>
            <a:endParaRPr lang="en-US" dirty="0"/>
          </a:p>
          <a:p>
            <a:r>
              <a:rPr lang="en-US" dirty="0"/>
              <a:t>First, the analysis was conducted on a subsample of 3,000 observations. While this was necessary for computational feasibility and bootstrap analysis, it may limit generalizability to the full population.</a:t>
            </a:r>
          </a:p>
          <a:p>
            <a:endParaRPr lang="en-US" dirty="0"/>
          </a:p>
          <a:p>
            <a:r>
              <a:rPr lang="en-US" dirty="0"/>
              <a:t>Second, the results are influenced by feature selection and preprocessing decisions. Different variable choices or encoding strategies could affect the relative performance of distance metrics.</a:t>
            </a:r>
          </a:p>
          <a:p>
            <a:endParaRPr lang="en-US" dirty="0"/>
          </a:p>
          <a:p>
            <a:r>
              <a:rPr lang="en-US" dirty="0"/>
              <a:t>Third, Jaccard distance requires binary encoding, which can lead to some loss of information compared to continuous representations.</a:t>
            </a:r>
          </a:p>
          <a:p>
            <a:endParaRPr lang="en-US" dirty="0"/>
          </a:p>
          <a:p>
            <a:r>
              <a:rPr lang="en-US" dirty="0"/>
              <a:t>Finally, the analysis was conducted on unweighted data, since the goal was methodological evaluation rather than population-level inference. This means the results may not directly generalize to weighted survey estimates.</a:t>
            </a:r>
          </a:p>
          <a:p>
            <a:endParaRPr lang="en-US" dirty="0"/>
          </a:p>
          <a:p>
            <a:r>
              <a:rPr lang="en-US" dirty="0"/>
              <a:t>In terms of future research, one important direction is to evaluate additional distance metrics, such as Gower or Hamming distance, especially for mixed data types.</a:t>
            </a:r>
          </a:p>
          <a:p>
            <a:endParaRPr lang="en-US" dirty="0"/>
          </a:p>
          <a:p>
            <a:r>
              <a:rPr lang="en-US" dirty="0"/>
              <a:t>It would also be valuable to test these findings across different datasets, including EHR systems, to assess generalizability.</a:t>
            </a:r>
          </a:p>
          <a:p>
            <a:endParaRPr lang="en-US" dirty="0"/>
          </a:p>
          <a:p>
            <a:r>
              <a:rPr lang="en-US" dirty="0"/>
              <a:t>Another direction is to explore how different clustering algorithms interact with distance metrics in terms of stability.</a:t>
            </a:r>
          </a:p>
          <a:p>
            <a:endParaRPr lang="en-US" dirty="0"/>
          </a:p>
          <a:p>
            <a:r>
              <a:rPr lang="en-US" dirty="0"/>
              <a:t>And ultimately, the goal is to move toward developing standardized guidance for distance metric selection in computational phenotyping.</a:t>
            </a:r>
          </a:p>
          <a:p>
            <a:endParaRPr lang="en-US" dirty="0"/>
          </a:p>
        </p:txBody>
      </p:sp>
      <p:sp>
        <p:nvSpPr>
          <p:cNvPr id="4" name="Slide Number Placeholder 3"/>
          <p:cNvSpPr>
            <a:spLocks noGrp="1"/>
          </p:cNvSpPr>
          <p:nvPr>
            <p:ph type="sldNum" sz="quarter" idx="5"/>
          </p:nvPr>
        </p:nvSpPr>
        <p:spPr/>
        <p:txBody>
          <a:bodyPr/>
          <a:lstStyle/>
          <a:p>
            <a:fld id="{F541DD33-2A06-9443-920E-9A8794B89243}" type="slidenum">
              <a:rPr lang="en-US" smtClean="0"/>
              <a:t>13</a:t>
            </a:fld>
            <a:endParaRPr lang="en-US"/>
          </a:p>
        </p:txBody>
      </p:sp>
    </p:spTree>
    <p:extLst>
      <p:ext uri="{BB962C8B-B14F-4D97-AF65-F5344CB8AC3E}">
        <p14:creationId xmlns:p14="http://schemas.microsoft.com/office/powerpoint/2010/main" val="24859367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I’ll highlight the key findings and what they mean. </a:t>
            </a:r>
          </a:p>
          <a:p>
            <a:endParaRPr lang="en-US" dirty="0"/>
          </a:p>
          <a:p>
            <a:r>
              <a:rPr lang="en-US" dirty="0"/>
              <a:t>First, distance metric selection has a significant impact on clustering stability. This is not a minor tuning parameter. It fundamentally changes the results. </a:t>
            </a:r>
          </a:p>
          <a:p>
            <a:endParaRPr lang="en-US" dirty="0"/>
          </a:p>
          <a:p>
            <a:r>
              <a:rPr lang="en-US" dirty="0"/>
              <a:t>Second, Jaccard clearly outperformed the other metrics across all conditions, consistently producing higher and more stable ARI values. </a:t>
            </a:r>
          </a:p>
          <a:p>
            <a:endParaRPr lang="en-US" dirty="0"/>
          </a:p>
          <a:p>
            <a:r>
              <a:rPr lang="en-US" dirty="0"/>
              <a:t>Third, increasing the number of clusters only improved stability when using Jaccard, while the other metrics did not meaningfully benefit from increased granularity. Importantly, these results were robust across bootstrap samples, which supports their reliability. </a:t>
            </a:r>
          </a:p>
          <a:p>
            <a:endParaRPr lang="en-US" dirty="0"/>
          </a:p>
          <a:p>
            <a:r>
              <a:rPr lang="en-US" dirty="0"/>
              <a:t>In terms of takeaways, distance metric choice should be treated as a primary modeling decision. Binary similarity approaches appear to be better suited for phenotyping, especially in high-dimensional or sparse clinical data. Jaccard, in particular, supports more reproducible and stable subgroup identification, ultimately improving the reliability of computational phenotyping for both research and clinical applications. </a:t>
            </a:r>
          </a:p>
          <a:p>
            <a:endParaRPr lang="en-US" dirty="0"/>
          </a:p>
          <a:p>
            <a:r>
              <a:rPr lang="en-US" dirty="0"/>
              <a:t>To conclude, this study shows that distance metric selection has a substantial and measurable impact on clustering stability. </a:t>
            </a:r>
          </a:p>
          <a:p>
            <a:endParaRPr lang="en-US" dirty="0"/>
          </a:p>
          <a:p>
            <a:r>
              <a:rPr lang="en-US" dirty="0"/>
              <a:t>Jaccard distance consistently produced more stable and reproducible clustering solutions compared to the other metrics, suggesting that how we define similarity may matter more than the clustering algorithm itself. </a:t>
            </a:r>
          </a:p>
          <a:p>
            <a:endParaRPr lang="en-US" dirty="0"/>
          </a:p>
          <a:p>
            <a:r>
              <a:rPr lang="en-US" dirty="0"/>
              <a:t>Moving forward, treating distance metric selection as a primary modeling decision can improve the reliability of computational phenotyping in healthcare.</a:t>
            </a:r>
          </a:p>
        </p:txBody>
      </p:sp>
      <p:sp>
        <p:nvSpPr>
          <p:cNvPr id="4" name="Slide Number Placeholder 3"/>
          <p:cNvSpPr>
            <a:spLocks noGrp="1"/>
          </p:cNvSpPr>
          <p:nvPr>
            <p:ph type="sldNum" sz="quarter" idx="5"/>
          </p:nvPr>
        </p:nvSpPr>
        <p:spPr/>
        <p:txBody>
          <a:bodyPr/>
          <a:lstStyle/>
          <a:p>
            <a:fld id="{F541DD33-2A06-9443-920E-9A8794B89243}" type="slidenum">
              <a:rPr lang="en-US" smtClean="0"/>
              <a:t>14</a:t>
            </a:fld>
            <a:endParaRPr lang="en-US"/>
          </a:p>
        </p:txBody>
      </p:sp>
    </p:spTree>
    <p:extLst>
      <p:ext uri="{BB962C8B-B14F-4D97-AF65-F5344CB8AC3E}">
        <p14:creationId xmlns:p14="http://schemas.microsoft.com/office/powerpoint/2010/main" val="32781737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4350" y="1153207"/>
            <a:ext cx="5829300" cy="1101725"/>
          </a:xfrm>
        </p:spPr>
        <p:txBody>
          <a:bodyPr/>
          <a:lstStyle>
            <a:lvl1pPr>
              <a:defRPr baseline="0"/>
            </a:lvl1pPr>
          </a:lstStyle>
          <a:p>
            <a:r>
              <a:rPr lang="en-US" dirty="0"/>
              <a:t>SAMPLE TITLE</a:t>
            </a:r>
          </a:p>
        </p:txBody>
      </p:sp>
      <p:sp>
        <p:nvSpPr>
          <p:cNvPr id="3" name="Subtitle 2"/>
          <p:cNvSpPr>
            <a:spLocks noGrp="1"/>
          </p:cNvSpPr>
          <p:nvPr>
            <p:ph type="subTitle" idx="1" hasCustomPrompt="1"/>
          </p:nvPr>
        </p:nvSpPr>
        <p:spPr>
          <a:xfrm>
            <a:off x="1028700" y="2431336"/>
            <a:ext cx="4800600" cy="828662"/>
          </a:xfrm>
        </p:spPr>
        <p:txBody>
          <a:bodyPr/>
          <a:lstStyle>
            <a:lvl1pPr marL="0" indent="0" algn="ctr">
              <a:buNone/>
              <a:defRPr sz="1500" baseline="0">
                <a:solidFill>
                  <a:schemeClr val="tx2">
                    <a:lumMod val="75000"/>
                    <a:lumOff val="25000"/>
                  </a:schemeClr>
                </a:solidFill>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dirty="0"/>
              <a:t>Sample text or subtitle</a:t>
            </a:r>
          </a:p>
        </p:txBody>
      </p:sp>
      <p:pic>
        <p:nvPicPr>
          <p:cNvPr id="7" name="Picture 6" descr="triangles_red.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00399" y="998277"/>
            <a:ext cx="454914" cy="82296"/>
          </a:xfrm>
          <a:prstGeom prst="rect">
            <a:avLst/>
          </a:prstGeom>
        </p:spPr>
      </p:pic>
      <p:pic>
        <p:nvPicPr>
          <p:cNvPr id="8" name="Picture 7">
            <a:extLst>
              <a:ext uri="{FF2B5EF4-FFF2-40B4-BE49-F238E27FC236}">
                <a16:creationId xmlns:a16="http://schemas.microsoft.com/office/drawing/2014/main" id="{883DB31A-F05D-4E52-A055-67C2505C68A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20538" y="3990293"/>
            <a:ext cx="3014636" cy="557431"/>
          </a:xfrm>
          <a:prstGeom prst="rect">
            <a:avLst/>
          </a:prstGeom>
        </p:spPr>
      </p:pic>
    </p:spTree>
    <p:extLst>
      <p:ext uri="{BB962C8B-B14F-4D97-AF65-F5344CB8AC3E}">
        <p14:creationId xmlns:p14="http://schemas.microsoft.com/office/powerpoint/2010/main" val="4090636110"/>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ulleted Slide">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fld id="{23131D21-4A4F-034C-896A-AD009F94F6BB}" type="slidenum">
              <a:rPr lang="en-US" smtClean="0"/>
              <a:t>‹#›</a:t>
            </a:fld>
            <a:endParaRPr lang="en-US"/>
          </a:p>
        </p:txBody>
      </p:sp>
      <p:sp>
        <p:nvSpPr>
          <p:cNvPr id="10" name="Title 1"/>
          <p:cNvSpPr>
            <a:spLocks noGrp="1"/>
          </p:cNvSpPr>
          <p:nvPr>
            <p:ph type="title" hasCustomPrompt="1"/>
          </p:nvPr>
        </p:nvSpPr>
        <p:spPr>
          <a:xfrm>
            <a:off x="513968" y="1"/>
            <a:ext cx="5829300" cy="1103313"/>
          </a:xfrm>
        </p:spPr>
        <p:txBody>
          <a:bodyPr/>
          <a:lstStyle>
            <a:lvl1pPr>
              <a:defRPr sz="2000" baseline="0">
                <a:solidFill>
                  <a:srgbClr val="0C234B"/>
                </a:solidFill>
              </a:defRPr>
            </a:lvl1pPr>
          </a:lstStyle>
          <a:p>
            <a:r>
              <a:rPr lang="en-US" dirty="0"/>
              <a:t>SAMPLE HEADER</a:t>
            </a:r>
          </a:p>
        </p:txBody>
      </p:sp>
      <p:sp>
        <p:nvSpPr>
          <p:cNvPr id="13" name="Text Placeholder 2"/>
          <p:cNvSpPr>
            <a:spLocks noGrp="1"/>
          </p:cNvSpPr>
          <p:nvPr>
            <p:ph idx="1"/>
          </p:nvPr>
        </p:nvSpPr>
        <p:spPr>
          <a:xfrm>
            <a:off x="574082" y="1713986"/>
            <a:ext cx="2699448" cy="2971732"/>
          </a:xfrm>
          <a:prstGeom prst="rect">
            <a:avLst/>
          </a:prstGeom>
        </p:spPr>
        <p:txBody>
          <a:bodyPr vert="horz" lIns="91440" tIns="45720" rIns="91440" bIns="45720" rtlCol="0">
            <a:normAutofit/>
          </a:bodyPr>
          <a:lstStyle>
            <a:lvl1pPr algn="l">
              <a:defRPr>
                <a:solidFill>
                  <a:schemeClr val="tx2">
                    <a:lumMod val="75000"/>
                    <a:lumOff val="25000"/>
                  </a:schemeClr>
                </a:solidFill>
              </a:defRPr>
            </a:lvl1pPr>
            <a:lvl2pPr algn="l">
              <a:defRPr>
                <a:solidFill>
                  <a:schemeClr val="tx2">
                    <a:lumMod val="75000"/>
                    <a:lumOff val="25000"/>
                  </a:schemeClr>
                </a:solidFill>
              </a:defRPr>
            </a:lvl2pPr>
            <a:lvl3pPr algn="l">
              <a:defRPr>
                <a:solidFill>
                  <a:schemeClr val="tx2">
                    <a:lumMod val="75000"/>
                    <a:lumOff val="25000"/>
                  </a:schemeClr>
                </a:solidFill>
              </a:defRPr>
            </a:lvl3pPr>
            <a:lvl4pPr algn="l">
              <a:defRPr>
                <a:solidFill>
                  <a:schemeClr val="tx2">
                    <a:lumMod val="75000"/>
                    <a:lumOff val="25000"/>
                  </a:schemeClr>
                </a:solidFill>
              </a:defRPr>
            </a:lvl4pPr>
            <a:lvl5pPr algn="l">
              <a:defRPr>
                <a:solidFill>
                  <a:schemeClr val="tx2">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2"/>
          <p:cNvSpPr>
            <a:spLocks noGrp="1"/>
          </p:cNvSpPr>
          <p:nvPr>
            <p:ph idx="13"/>
          </p:nvPr>
        </p:nvSpPr>
        <p:spPr>
          <a:xfrm>
            <a:off x="3542453" y="1713986"/>
            <a:ext cx="2699448" cy="2971732"/>
          </a:xfrm>
          <a:prstGeom prst="rect">
            <a:avLst/>
          </a:prstGeom>
        </p:spPr>
        <p:txBody>
          <a:bodyPr vert="horz" lIns="91440" tIns="45720" rIns="91440" bIns="45720" rtlCol="0">
            <a:normAutofit/>
          </a:bodyPr>
          <a:lstStyle>
            <a:lvl1pPr algn="l">
              <a:defRPr>
                <a:solidFill>
                  <a:schemeClr val="tx2">
                    <a:lumMod val="75000"/>
                    <a:lumOff val="25000"/>
                  </a:schemeClr>
                </a:solidFill>
              </a:defRPr>
            </a:lvl1pPr>
            <a:lvl2pPr algn="l">
              <a:defRPr>
                <a:solidFill>
                  <a:schemeClr val="tx2">
                    <a:lumMod val="75000"/>
                    <a:lumOff val="25000"/>
                  </a:schemeClr>
                </a:solidFill>
              </a:defRPr>
            </a:lvl2pPr>
            <a:lvl3pPr algn="l">
              <a:defRPr>
                <a:solidFill>
                  <a:schemeClr val="tx2">
                    <a:lumMod val="75000"/>
                    <a:lumOff val="25000"/>
                  </a:schemeClr>
                </a:solidFill>
              </a:defRPr>
            </a:lvl3pPr>
            <a:lvl4pPr algn="l">
              <a:defRPr>
                <a:solidFill>
                  <a:schemeClr val="tx2">
                    <a:lumMod val="75000"/>
                    <a:lumOff val="25000"/>
                  </a:schemeClr>
                </a:solidFill>
              </a:defRPr>
            </a:lvl4pPr>
            <a:lvl5pPr algn="l">
              <a:defRPr>
                <a:solidFill>
                  <a:schemeClr val="tx2">
                    <a:lumMod val="75000"/>
                    <a:lumOff val="2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82168210"/>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ragraph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3968" y="1"/>
            <a:ext cx="5829300" cy="1103313"/>
          </a:xfrm>
        </p:spPr>
        <p:txBody>
          <a:bodyPr/>
          <a:lstStyle>
            <a:lvl1pPr>
              <a:defRPr sz="2000" baseline="0">
                <a:solidFill>
                  <a:srgbClr val="0C234B"/>
                </a:solidFill>
              </a:defRPr>
            </a:lvl1pPr>
          </a:lstStyle>
          <a:p>
            <a:r>
              <a:rPr lang="en-US" dirty="0"/>
              <a:t>SAMPLE HEADER</a:t>
            </a:r>
          </a:p>
        </p:txBody>
      </p:sp>
      <p:sp>
        <p:nvSpPr>
          <p:cNvPr id="5" name="Text Box 3"/>
          <p:cNvSpPr txBox="1">
            <a:spLocks noGrp="1" noChangeArrowheads="1"/>
          </p:cNvSpPr>
          <p:nvPr>
            <p:ph type="sldNum" sz="quarter" idx="10"/>
          </p:nvPr>
        </p:nvSpPr>
        <p:spPr>
          <a:ln/>
        </p:spPr>
        <p:txBody>
          <a:bodyPr/>
          <a:lstStyle>
            <a:lvl1pPr>
              <a:defRPr/>
            </a:lvl1pPr>
          </a:lstStyle>
          <a:p>
            <a:pPr>
              <a:defRPr/>
            </a:pPr>
            <a:fld id="{58B17539-672D-2847-B799-9A2A8D95C747}" type="slidenum">
              <a:rPr lang="en-US"/>
              <a:pPr>
                <a:defRPr/>
              </a:pPr>
              <a:t>‹#›</a:t>
            </a:fld>
            <a:endParaRPr lang="en-US"/>
          </a:p>
        </p:txBody>
      </p:sp>
      <p:sp>
        <p:nvSpPr>
          <p:cNvPr id="12" name="Text Placeholder 2"/>
          <p:cNvSpPr>
            <a:spLocks noGrp="1"/>
          </p:cNvSpPr>
          <p:nvPr>
            <p:ph idx="1" hasCustomPrompt="1"/>
          </p:nvPr>
        </p:nvSpPr>
        <p:spPr>
          <a:xfrm>
            <a:off x="712791" y="2157897"/>
            <a:ext cx="2884394" cy="1418046"/>
          </a:xfrm>
          <a:prstGeom prst="rect">
            <a:avLst/>
          </a:prstGeom>
        </p:spPr>
        <p:txBody>
          <a:bodyPr vert="horz" lIns="91440" tIns="45720" rIns="91440" bIns="45720" rtlCol="0">
            <a:normAutofit/>
          </a:bodyPr>
          <a:lstStyle>
            <a:lvl1pPr marL="0" marR="0" indent="0" algn="l" defTabSz="685800" rtl="0" eaLnBrk="0" fontAlgn="base" latinLnBrk="0" hangingPunct="0">
              <a:lnSpc>
                <a:spcPct val="100000"/>
              </a:lnSpc>
              <a:spcBef>
                <a:spcPts val="600"/>
              </a:spcBef>
              <a:spcAft>
                <a:spcPct val="0"/>
              </a:spcAft>
              <a:buClrTx/>
              <a:buSzTx/>
              <a:buFontTx/>
              <a:buNone/>
              <a:tabLst/>
              <a:defRPr sz="1050" b="0" i="0">
                <a:solidFill>
                  <a:schemeClr val="tx2">
                    <a:lumMod val="75000"/>
                    <a:lumOff val="25000"/>
                  </a:schemeClr>
                </a:solidFill>
              </a:defRPr>
            </a:lvl1pPr>
          </a:lstStyle>
          <a:p>
            <a:pPr marL="0" marR="0" lvl="0" indent="0" algn="l" defTabSz="685800" rtl="0" eaLnBrk="0" fontAlgn="base" latinLnBrk="0" hangingPunct="0">
              <a:lnSpc>
                <a:spcPct val="100000"/>
              </a:lnSpc>
              <a:spcBef>
                <a:spcPts val="600"/>
              </a:spcBef>
              <a:spcAft>
                <a:spcPct val="0"/>
              </a:spcAft>
              <a:buClrTx/>
              <a:buSzTx/>
              <a:buFontTx/>
              <a:buNone/>
              <a:tabLst/>
              <a:defRPr/>
            </a:pPr>
            <a:r>
              <a:rPr lang="en-US" dirty="0"/>
              <a:t>Sample Basic Paragraph.</a:t>
            </a:r>
            <a:r>
              <a:rPr lang="en-US" baseline="0" dirty="0"/>
              <a:t> </a:t>
            </a:r>
            <a:r>
              <a:rPr lang="en-US" dirty="0"/>
              <a:t>This is what the text would look</a:t>
            </a:r>
            <a:r>
              <a:rPr lang="en-US" baseline="0" dirty="0"/>
              <a:t> like in a paragraph. This is what the text would look like in a paragraph. This is what the text would look like.</a:t>
            </a:r>
            <a:endParaRPr lang="en-US" dirty="0"/>
          </a:p>
          <a:p>
            <a:pPr lvl="0"/>
            <a:endParaRPr lang="en-US" dirty="0"/>
          </a:p>
        </p:txBody>
      </p:sp>
      <p:sp>
        <p:nvSpPr>
          <p:cNvPr id="14" name="Text Placeholder 2"/>
          <p:cNvSpPr>
            <a:spLocks noGrp="1"/>
          </p:cNvSpPr>
          <p:nvPr>
            <p:ph idx="11" hasCustomPrompt="1"/>
          </p:nvPr>
        </p:nvSpPr>
        <p:spPr>
          <a:xfrm>
            <a:off x="697630" y="1817064"/>
            <a:ext cx="2884394" cy="353163"/>
          </a:xfrm>
          <a:prstGeom prst="rect">
            <a:avLst/>
          </a:prstGeom>
        </p:spPr>
        <p:txBody>
          <a:bodyPr vert="horz" lIns="91440" tIns="45720" rIns="91440" bIns="45720" rtlCol="0">
            <a:normAutofit/>
          </a:bodyPr>
          <a:lstStyle>
            <a:lvl1pPr marL="0" marR="0" indent="0" algn="l" defTabSz="685800" rtl="0" eaLnBrk="0" fontAlgn="base" latinLnBrk="0" hangingPunct="0">
              <a:lnSpc>
                <a:spcPct val="100000"/>
              </a:lnSpc>
              <a:spcBef>
                <a:spcPts val="600"/>
              </a:spcBef>
              <a:spcAft>
                <a:spcPct val="0"/>
              </a:spcAft>
              <a:buClrTx/>
              <a:buSzTx/>
              <a:buFontTx/>
              <a:buNone/>
              <a:tabLst/>
              <a:defRPr sz="1350" b="1" i="0">
                <a:solidFill>
                  <a:srgbClr val="AB0520"/>
                </a:solidFill>
              </a:defRPr>
            </a:lvl1pPr>
          </a:lstStyle>
          <a:p>
            <a:pPr marL="0" marR="0" lvl="0" indent="0" algn="l" defTabSz="685800" rtl="0" eaLnBrk="0" fontAlgn="base" latinLnBrk="0" hangingPunct="0">
              <a:lnSpc>
                <a:spcPct val="100000"/>
              </a:lnSpc>
              <a:spcBef>
                <a:spcPts val="600"/>
              </a:spcBef>
              <a:spcAft>
                <a:spcPct val="0"/>
              </a:spcAft>
              <a:buClrTx/>
              <a:buSzTx/>
              <a:buFontTx/>
              <a:buNone/>
              <a:tabLst/>
              <a:defRPr/>
            </a:pPr>
            <a:r>
              <a:rPr lang="en-US" dirty="0"/>
              <a:t>PARAGRAPH TITLE</a:t>
            </a:r>
          </a:p>
        </p:txBody>
      </p:sp>
    </p:spTree>
    <p:extLst>
      <p:ext uri="{BB962C8B-B14F-4D97-AF65-F5344CB8AC3E}">
        <p14:creationId xmlns:p14="http://schemas.microsoft.com/office/powerpoint/2010/main" val="138943631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Paragraph Content">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23131D21-4A4F-034C-896A-AD009F94F6BB}" type="slidenum">
              <a:rPr lang="en-US" smtClean="0"/>
              <a:t>‹#›</a:t>
            </a:fld>
            <a:endParaRPr lang="en-US"/>
          </a:p>
        </p:txBody>
      </p:sp>
      <p:sp>
        <p:nvSpPr>
          <p:cNvPr id="9" name="Title 1"/>
          <p:cNvSpPr>
            <a:spLocks noGrp="1"/>
          </p:cNvSpPr>
          <p:nvPr>
            <p:ph type="title" hasCustomPrompt="1"/>
          </p:nvPr>
        </p:nvSpPr>
        <p:spPr>
          <a:xfrm>
            <a:off x="513968" y="1"/>
            <a:ext cx="5829300" cy="1103313"/>
          </a:xfrm>
        </p:spPr>
        <p:txBody>
          <a:bodyPr/>
          <a:lstStyle>
            <a:lvl1pPr>
              <a:defRPr sz="2000" baseline="0">
                <a:solidFill>
                  <a:srgbClr val="0C234B"/>
                </a:solidFill>
              </a:defRPr>
            </a:lvl1pPr>
          </a:lstStyle>
          <a:p>
            <a:r>
              <a:rPr lang="en-US" dirty="0"/>
              <a:t>SAMPLE HEADER</a:t>
            </a:r>
          </a:p>
        </p:txBody>
      </p:sp>
      <p:sp>
        <p:nvSpPr>
          <p:cNvPr id="12" name="Text Placeholder 2"/>
          <p:cNvSpPr>
            <a:spLocks noGrp="1"/>
          </p:cNvSpPr>
          <p:nvPr>
            <p:ph idx="1" hasCustomPrompt="1"/>
          </p:nvPr>
        </p:nvSpPr>
        <p:spPr>
          <a:xfrm>
            <a:off x="740533" y="1664663"/>
            <a:ext cx="2532998" cy="2929562"/>
          </a:xfrm>
          <a:prstGeom prst="rect">
            <a:avLst/>
          </a:prstGeom>
        </p:spPr>
        <p:txBody>
          <a:bodyPr vert="horz" lIns="91440" tIns="45720" rIns="91440" bIns="45720" rtlCol="0">
            <a:normAutofit/>
          </a:bodyPr>
          <a:lstStyle>
            <a:lvl1pPr marL="0" marR="0" indent="0" algn="l" defTabSz="685800" rtl="0" eaLnBrk="0" fontAlgn="base" latinLnBrk="0" hangingPunct="0">
              <a:lnSpc>
                <a:spcPct val="100000"/>
              </a:lnSpc>
              <a:spcBef>
                <a:spcPts val="600"/>
              </a:spcBef>
              <a:spcAft>
                <a:spcPct val="0"/>
              </a:spcAft>
              <a:buClrTx/>
              <a:buSzTx/>
              <a:buFontTx/>
              <a:buNone/>
              <a:tabLst/>
              <a:defRPr>
                <a:solidFill>
                  <a:schemeClr val="tx2">
                    <a:lumMod val="75000"/>
                    <a:lumOff val="25000"/>
                  </a:schemeClr>
                </a:solidFill>
              </a:defRPr>
            </a:lvl1pPr>
          </a:lstStyle>
          <a:p>
            <a:pPr marL="0" marR="0" lvl="0" indent="0" algn="l" defTabSz="685800" rtl="0" eaLnBrk="0" fontAlgn="base" latinLnBrk="0" hangingPunct="0">
              <a:lnSpc>
                <a:spcPct val="100000"/>
              </a:lnSpc>
              <a:spcBef>
                <a:spcPts val="600"/>
              </a:spcBef>
              <a:spcAft>
                <a:spcPct val="0"/>
              </a:spcAft>
              <a:buClrTx/>
              <a:buSzTx/>
              <a:buFontTx/>
              <a:buNone/>
              <a:tabLst/>
              <a:defRPr/>
            </a:pPr>
            <a:r>
              <a:rPr lang="en-US" dirty="0"/>
              <a:t>Sample Basic Paragraph.</a:t>
            </a:r>
            <a:r>
              <a:rPr lang="en-US" baseline="0" dirty="0"/>
              <a:t> </a:t>
            </a:r>
            <a:r>
              <a:rPr lang="en-US" dirty="0"/>
              <a:t>This is what the text would look</a:t>
            </a:r>
            <a:r>
              <a:rPr lang="en-US" baseline="0" dirty="0"/>
              <a:t> like in a paragraph. This is what the text would look like in a paragraph. This is what the text would look like.</a:t>
            </a:r>
            <a:endParaRPr lang="en-US" dirty="0"/>
          </a:p>
          <a:p>
            <a:pPr lvl="0"/>
            <a:endParaRPr lang="en-US" dirty="0"/>
          </a:p>
        </p:txBody>
      </p:sp>
      <p:sp>
        <p:nvSpPr>
          <p:cNvPr id="15" name="Text Placeholder 2"/>
          <p:cNvSpPr>
            <a:spLocks noGrp="1"/>
          </p:cNvSpPr>
          <p:nvPr>
            <p:ph idx="13" hasCustomPrompt="1"/>
          </p:nvPr>
        </p:nvSpPr>
        <p:spPr>
          <a:xfrm>
            <a:off x="3579442" y="1664663"/>
            <a:ext cx="2532998" cy="2929562"/>
          </a:xfrm>
          <a:prstGeom prst="rect">
            <a:avLst/>
          </a:prstGeom>
        </p:spPr>
        <p:txBody>
          <a:bodyPr vert="horz" lIns="91440" tIns="45720" rIns="91440" bIns="45720" rtlCol="0">
            <a:normAutofit/>
          </a:bodyPr>
          <a:lstStyle>
            <a:lvl1pPr marL="0" marR="0" indent="0" algn="l" defTabSz="685800" rtl="0" eaLnBrk="0" fontAlgn="base" latinLnBrk="0" hangingPunct="0">
              <a:lnSpc>
                <a:spcPct val="100000"/>
              </a:lnSpc>
              <a:spcBef>
                <a:spcPts val="600"/>
              </a:spcBef>
              <a:spcAft>
                <a:spcPct val="0"/>
              </a:spcAft>
              <a:buClrTx/>
              <a:buSzTx/>
              <a:buFontTx/>
              <a:buNone/>
              <a:tabLst/>
              <a:defRPr>
                <a:solidFill>
                  <a:schemeClr val="tx2">
                    <a:lumMod val="75000"/>
                    <a:lumOff val="25000"/>
                  </a:schemeClr>
                </a:solidFill>
              </a:defRPr>
            </a:lvl1pPr>
          </a:lstStyle>
          <a:p>
            <a:pPr marL="0" marR="0" lvl="0" indent="0" algn="l" defTabSz="685800" rtl="0" eaLnBrk="0" fontAlgn="base" latinLnBrk="0" hangingPunct="0">
              <a:lnSpc>
                <a:spcPct val="100000"/>
              </a:lnSpc>
              <a:spcBef>
                <a:spcPts val="600"/>
              </a:spcBef>
              <a:spcAft>
                <a:spcPct val="0"/>
              </a:spcAft>
              <a:buClrTx/>
              <a:buSzTx/>
              <a:buFontTx/>
              <a:buNone/>
              <a:tabLst/>
              <a:defRPr/>
            </a:pPr>
            <a:r>
              <a:rPr lang="en-US" dirty="0"/>
              <a:t>Sample Basic Paragraph.</a:t>
            </a:r>
            <a:r>
              <a:rPr lang="en-US" baseline="0" dirty="0"/>
              <a:t> </a:t>
            </a:r>
            <a:r>
              <a:rPr lang="en-US" dirty="0"/>
              <a:t>This is what the text would look</a:t>
            </a:r>
            <a:r>
              <a:rPr lang="en-US" baseline="0" dirty="0"/>
              <a:t> like in a paragraph. This is what the text would look like in a paragraph. This is what the text would look like.</a:t>
            </a:r>
            <a:endParaRPr lang="en-US" dirty="0"/>
          </a:p>
          <a:p>
            <a:pPr lvl="0"/>
            <a:endParaRPr lang="en-US" dirty="0"/>
          </a:p>
        </p:txBody>
      </p:sp>
    </p:spTree>
    <p:extLst>
      <p:ext uri="{BB962C8B-B14F-4D97-AF65-F5344CB8AC3E}">
        <p14:creationId xmlns:p14="http://schemas.microsoft.com/office/powerpoint/2010/main" val="294929315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bject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3968" y="1"/>
            <a:ext cx="5829300" cy="1103313"/>
          </a:xfrm>
        </p:spPr>
        <p:txBody>
          <a:bodyPr/>
          <a:lstStyle>
            <a:lvl1pPr>
              <a:defRPr sz="2000" baseline="0">
                <a:solidFill>
                  <a:srgbClr val="0C234B"/>
                </a:solidFill>
              </a:defRPr>
            </a:lvl1pPr>
          </a:lstStyle>
          <a:p>
            <a:r>
              <a:rPr lang="en-US" dirty="0"/>
              <a:t>SAMPLE HEADER</a:t>
            </a:r>
          </a:p>
        </p:txBody>
      </p:sp>
      <p:sp>
        <p:nvSpPr>
          <p:cNvPr id="5" name="Text Box 3"/>
          <p:cNvSpPr txBox="1">
            <a:spLocks noGrp="1" noChangeArrowheads="1"/>
          </p:cNvSpPr>
          <p:nvPr>
            <p:ph type="sldNum" sz="quarter" idx="10"/>
          </p:nvPr>
        </p:nvSpPr>
        <p:spPr>
          <a:ln/>
        </p:spPr>
        <p:txBody>
          <a:bodyPr/>
          <a:lstStyle>
            <a:lvl1pPr>
              <a:defRPr/>
            </a:lvl1pPr>
          </a:lstStyle>
          <a:p>
            <a:pPr>
              <a:defRPr/>
            </a:pPr>
            <a:fld id="{58B17539-672D-2847-B799-9A2A8D95C747}" type="slidenum">
              <a:rPr lang="en-US"/>
              <a:pPr>
                <a:defRPr/>
              </a:pPr>
              <a:t>‹#›</a:t>
            </a:fld>
            <a:endParaRPr lang="en-US"/>
          </a:p>
        </p:txBody>
      </p:sp>
      <p:sp>
        <p:nvSpPr>
          <p:cNvPr id="10" name="Subtitle 2"/>
          <p:cNvSpPr txBox="1">
            <a:spLocks/>
          </p:cNvSpPr>
          <p:nvPr userDrawn="1"/>
        </p:nvSpPr>
        <p:spPr bwMode="auto">
          <a:xfrm>
            <a:off x="3481160" y="1350988"/>
            <a:ext cx="2468720" cy="2079591"/>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wrap="square" lIns="28575" tIns="28575" rIns="28575" bIns="28575" numCol="1" anchor="t" anchorCtr="0" compatLnSpc="1">
            <a:prstTxWarp prst="textNoShape">
              <a:avLst/>
            </a:prstTxWarp>
          </a:bodyPr>
          <a:lstStyle>
            <a:lvl1pPr marL="0" indent="0" algn="l" rtl="0" eaLnBrk="0" fontAlgn="base" hangingPunct="0">
              <a:spcBef>
                <a:spcPts val="800"/>
              </a:spcBef>
              <a:spcAft>
                <a:spcPct val="0"/>
              </a:spcAft>
              <a:buNone/>
              <a:defRPr sz="2000" baseline="0">
                <a:solidFill>
                  <a:srgbClr val="FFFFFF"/>
                </a:solidFill>
                <a:latin typeface="+mn-lt"/>
                <a:ea typeface="+mn-ea"/>
                <a:cs typeface="Times New Roman"/>
                <a:sym typeface="Calibri" charset="0"/>
              </a:defRPr>
            </a:lvl1pPr>
            <a:lvl2pPr marL="457200" indent="0" algn="ctr" rtl="0" eaLnBrk="0" fontAlgn="base" hangingPunct="0">
              <a:spcBef>
                <a:spcPts val="700"/>
              </a:spcBef>
              <a:spcAft>
                <a:spcPct val="0"/>
              </a:spcAft>
              <a:buNone/>
              <a:defRPr sz="2800">
                <a:solidFill>
                  <a:srgbClr val="FFFFFF"/>
                </a:solidFill>
                <a:latin typeface="+mn-lt"/>
                <a:ea typeface="+mn-ea"/>
                <a:cs typeface="+mn-cs"/>
                <a:sym typeface="Calibri" charset="0"/>
              </a:defRPr>
            </a:lvl2pPr>
            <a:lvl3pPr marL="914400" indent="0" algn="ctr" rtl="0" eaLnBrk="0" fontAlgn="base" hangingPunct="0">
              <a:spcBef>
                <a:spcPts val="600"/>
              </a:spcBef>
              <a:spcAft>
                <a:spcPct val="0"/>
              </a:spcAft>
              <a:buNone/>
              <a:defRPr sz="2400">
                <a:solidFill>
                  <a:srgbClr val="FFFFFF"/>
                </a:solidFill>
                <a:latin typeface="+mn-lt"/>
                <a:ea typeface="+mn-ea"/>
                <a:cs typeface="+mn-cs"/>
                <a:sym typeface="Calibri" charset="0"/>
              </a:defRPr>
            </a:lvl3pPr>
            <a:lvl4pPr marL="1371600" indent="0" algn="ctr" rtl="0" eaLnBrk="0" fontAlgn="base" hangingPunct="0">
              <a:spcBef>
                <a:spcPts val="500"/>
              </a:spcBef>
              <a:spcAft>
                <a:spcPct val="0"/>
              </a:spcAft>
              <a:buNone/>
              <a:defRPr sz="2000">
                <a:solidFill>
                  <a:srgbClr val="FFFFFF"/>
                </a:solidFill>
                <a:latin typeface="+mn-lt"/>
                <a:ea typeface="+mn-ea"/>
                <a:cs typeface="+mn-cs"/>
                <a:sym typeface="Calibri" charset="0"/>
              </a:defRPr>
            </a:lvl4pPr>
            <a:lvl5pPr marL="1828800" indent="0" algn="ctr" rtl="0" eaLnBrk="0" fontAlgn="base" hangingPunct="0">
              <a:spcBef>
                <a:spcPts val="500"/>
              </a:spcBef>
              <a:spcAft>
                <a:spcPct val="0"/>
              </a:spcAft>
              <a:buNone/>
              <a:defRPr sz="2000">
                <a:solidFill>
                  <a:srgbClr val="FFFFFF"/>
                </a:solidFill>
                <a:latin typeface="+mn-lt"/>
                <a:ea typeface="+mn-ea"/>
                <a:cs typeface="+mn-cs"/>
                <a:sym typeface="Calibri" charset="0"/>
              </a:defRPr>
            </a:lvl5pPr>
            <a:lvl6pPr marL="2286000" indent="0" algn="ctr" rtl="0" fontAlgn="base">
              <a:spcBef>
                <a:spcPts val="500"/>
              </a:spcBef>
              <a:spcAft>
                <a:spcPct val="0"/>
              </a:spcAft>
              <a:buNone/>
              <a:defRPr sz="2000">
                <a:solidFill>
                  <a:srgbClr val="878787"/>
                </a:solidFill>
                <a:latin typeface="+mn-lt"/>
                <a:ea typeface="+mn-ea"/>
                <a:cs typeface="+mn-cs"/>
                <a:sym typeface="Calibri" charset="0"/>
              </a:defRPr>
            </a:lvl6pPr>
            <a:lvl7pPr marL="2743200" indent="0" algn="ctr" rtl="0" fontAlgn="base">
              <a:spcBef>
                <a:spcPts val="500"/>
              </a:spcBef>
              <a:spcAft>
                <a:spcPct val="0"/>
              </a:spcAft>
              <a:buNone/>
              <a:defRPr sz="2000">
                <a:solidFill>
                  <a:srgbClr val="878787"/>
                </a:solidFill>
                <a:latin typeface="+mn-lt"/>
                <a:ea typeface="+mn-ea"/>
                <a:cs typeface="+mn-cs"/>
                <a:sym typeface="Calibri" charset="0"/>
              </a:defRPr>
            </a:lvl7pPr>
            <a:lvl8pPr marL="3200400" indent="0" algn="ctr" rtl="0" fontAlgn="base">
              <a:spcBef>
                <a:spcPts val="500"/>
              </a:spcBef>
              <a:spcAft>
                <a:spcPct val="0"/>
              </a:spcAft>
              <a:buNone/>
              <a:defRPr sz="2000">
                <a:solidFill>
                  <a:srgbClr val="878787"/>
                </a:solidFill>
                <a:latin typeface="+mn-lt"/>
                <a:ea typeface="+mn-ea"/>
                <a:cs typeface="+mn-cs"/>
                <a:sym typeface="Calibri" charset="0"/>
              </a:defRPr>
            </a:lvl8pPr>
            <a:lvl9pPr marL="3657600" indent="0" algn="ctr" rtl="0" fontAlgn="base">
              <a:spcBef>
                <a:spcPts val="500"/>
              </a:spcBef>
              <a:spcAft>
                <a:spcPct val="0"/>
              </a:spcAft>
              <a:buNone/>
              <a:defRPr sz="2000">
                <a:solidFill>
                  <a:srgbClr val="878787"/>
                </a:solidFill>
                <a:latin typeface="+mn-lt"/>
                <a:ea typeface="+mn-ea"/>
                <a:cs typeface="+mn-cs"/>
                <a:sym typeface="Calibri" charset="0"/>
              </a:defRPr>
            </a:lvl9pPr>
          </a:lstStyle>
          <a:p>
            <a:endParaRPr lang="en-US" sz="1500" dirty="0"/>
          </a:p>
        </p:txBody>
      </p:sp>
      <p:sp>
        <p:nvSpPr>
          <p:cNvPr id="9" name="Content Placeholder 2"/>
          <p:cNvSpPr>
            <a:spLocks noGrp="1"/>
          </p:cNvSpPr>
          <p:nvPr>
            <p:ph sz="half" idx="1"/>
          </p:nvPr>
        </p:nvSpPr>
        <p:spPr>
          <a:xfrm>
            <a:off x="907473" y="1575377"/>
            <a:ext cx="4850822" cy="1314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endParaRPr lang="en-US" dirty="0"/>
          </a:p>
        </p:txBody>
      </p:sp>
    </p:spTree>
    <p:extLst>
      <p:ext uri="{BB962C8B-B14F-4D97-AF65-F5344CB8AC3E}">
        <p14:creationId xmlns:p14="http://schemas.microsoft.com/office/powerpoint/2010/main" val="2568944161"/>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344216" y="1187895"/>
            <a:ext cx="41148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hasCustomPrompt="1"/>
          </p:nvPr>
        </p:nvSpPr>
        <p:spPr>
          <a:xfrm>
            <a:off x="1344216" y="4297179"/>
            <a:ext cx="4114800" cy="400870"/>
          </a:xfrm>
        </p:spPr>
        <p:txBody>
          <a:bodyPr/>
          <a:lstStyle>
            <a:lvl1pPr marL="0" indent="0">
              <a:buNone/>
              <a:defRPr sz="900">
                <a:solidFill>
                  <a:srgbClr val="6F868D"/>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IMAGE CAPTION</a:t>
            </a:r>
          </a:p>
        </p:txBody>
      </p:sp>
      <p:sp>
        <p:nvSpPr>
          <p:cNvPr id="7" name="Slide Number Placeholder 6"/>
          <p:cNvSpPr>
            <a:spLocks noGrp="1"/>
          </p:cNvSpPr>
          <p:nvPr>
            <p:ph type="sldNum" sz="quarter" idx="12"/>
          </p:nvPr>
        </p:nvSpPr>
        <p:spPr/>
        <p:txBody>
          <a:bodyPr/>
          <a:lstStyle/>
          <a:p>
            <a:fld id="{23131D21-4A4F-034C-896A-AD009F94F6BB}" type="slidenum">
              <a:rPr lang="en-US" smtClean="0"/>
              <a:t>‹#›</a:t>
            </a:fld>
            <a:endParaRPr lang="en-US"/>
          </a:p>
        </p:txBody>
      </p:sp>
      <p:sp>
        <p:nvSpPr>
          <p:cNvPr id="8" name="Title 1"/>
          <p:cNvSpPr>
            <a:spLocks noGrp="1"/>
          </p:cNvSpPr>
          <p:nvPr>
            <p:ph type="title" hasCustomPrompt="1"/>
          </p:nvPr>
        </p:nvSpPr>
        <p:spPr>
          <a:xfrm>
            <a:off x="513968" y="1"/>
            <a:ext cx="5829300" cy="1103313"/>
          </a:xfrm>
        </p:spPr>
        <p:txBody>
          <a:bodyPr/>
          <a:lstStyle>
            <a:lvl1pPr>
              <a:defRPr sz="2000" baseline="0">
                <a:solidFill>
                  <a:srgbClr val="0C234B"/>
                </a:solidFill>
              </a:defRPr>
            </a:lvl1pPr>
          </a:lstStyle>
          <a:p>
            <a:r>
              <a:rPr lang="en-US" dirty="0"/>
              <a:t>SAMPLE HEADER</a:t>
            </a:r>
          </a:p>
        </p:txBody>
      </p:sp>
    </p:spTree>
    <p:extLst>
      <p:ext uri="{BB962C8B-B14F-4D97-AF65-F5344CB8AC3E}">
        <p14:creationId xmlns:p14="http://schemas.microsoft.com/office/powerpoint/2010/main" val="186557126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Aligned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13968" y="1"/>
            <a:ext cx="5829300" cy="1103313"/>
          </a:xfrm>
        </p:spPr>
        <p:txBody>
          <a:bodyPr/>
          <a:lstStyle>
            <a:lvl1pPr algn="ctr">
              <a:defRPr sz="2000" baseline="0">
                <a:solidFill>
                  <a:srgbClr val="0C234B"/>
                </a:solidFill>
              </a:defRPr>
            </a:lvl1pPr>
          </a:lstStyle>
          <a:p>
            <a:r>
              <a:rPr lang="en-US" dirty="0"/>
              <a:t>SAMPLE HEADER</a:t>
            </a:r>
          </a:p>
        </p:txBody>
      </p:sp>
      <p:sp>
        <p:nvSpPr>
          <p:cNvPr id="5" name="Text Box 3"/>
          <p:cNvSpPr txBox="1">
            <a:spLocks noGrp="1" noChangeArrowheads="1"/>
          </p:cNvSpPr>
          <p:nvPr>
            <p:ph type="sldNum" sz="quarter" idx="10"/>
          </p:nvPr>
        </p:nvSpPr>
        <p:spPr>
          <a:ln/>
        </p:spPr>
        <p:txBody>
          <a:bodyPr/>
          <a:lstStyle>
            <a:lvl1pPr>
              <a:defRPr/>
            </a:lvl1pPr>
          </a:lstStyle>
          <a:p>
            <a:pPr>
              <a:defRPr/>
            </a:pPr>
            <a:fld id="{58B17539-672D-2847-B799-9A2A8D95C747}" type="slidenum">
              <a:rPr lang="en-US"/>
              <a:pPr>
                <a:defRPr/>
              </a:pPr>
              <a:t>‹#›</a:t>
            </a:fld>
            <a:endParaRPr lang="en-US"/>
          </a:p>
        </p:txBody>
      </p:sp>
      <p:sp>
        <p:nvSpPr>
          <p:cNvPr id="12" name="Text Placeholder 2"/>
          <p:cNvSpPr>
            <a:spLocks noGrp="1"/>
          </p:cNvSpPr>
          <p:nvPr>
            <p:ph idx="1" hasCustomPrompt="1"/>
          </p:nvPr>
        </p:nvSpPr>
        <p:spPr>
          <a:xfrm>
            <a:off x="509351" y="1109775"/>
            <a:ext cx="1691498" cy="2219550"/>
          </a:xfrm>
          <a:prstGeom prst="rect">
            <a:avLst/>
          </a:prstGeom>
        </p:spPr>
        <p:txBody>
          <a:bodyPr vert="horz" lIns="91440" tIns="45720" rIns="91440" bIns="45720" rtlCol="0">
            <a:normAutofit/>
          </a:bodyPr>
          <a:lstStyle>
            <a:lvl1pPr marL="0" marR="0" indent="0" algn="l" defTabSz="685800" rtl="0" eaLnBrk="0" fontAlgn="base" latinLnBrk="0" hangingPunct="0">
              <a:lnSpc>
                <a:spcPct val="100000"/>
              </a:lnSpc>
              <a:spcBef>
                <a:spcPts val="600"/>
              </a:spcBef>
              <a:spcAft>
                <a:spcPct val="0"/>
              </a:spcAft>
              <a:buClrTx/>
              <a:buSzTx/>
              <a:buFontTx/>
              <a:buNone/>
              <a:tabLst/>
              <a:defRPr sz="1050" b="0" i="0">
                <a:solidFill>
                  <a:schemeClr val="tx2">
                    <a:lumMod val="75000"/>
                    <a:lumOff val="25000"/>
                  </a:schemeClr>
                </a:solidFill>
              </a:defRPr>
            </a:lvl1pPr>
          </a:lstStyle>
          <a:p>
            <a:pPr marL="0" marR="0" lvl="0" indent="0" algn="l" defTabSz="685800" rtl="0" eaLnBrk="0" fontAlgn="base" latinLnBrk="0" hangingPunct="0">
              <a:lnSpc>
                <a:spcPct val="100000"/>
              </a:lnSpc>
              <a:spcBef>
                <a:spcPts val="600"/>
              </a:spcBef>
              <a:spcAft>
                <a:spcPct val="0"/>
              </a:spcAft>
              <a:buClrTx/>
              <a:buSzTx/>
              <a:buFontTx/>
              <a:buNone/>
              <a:tabLst/>
              <a:defRPr/>
            </a:pPr>
            <a:r>
              <a:rPr lang="en-US" dirty="0"/>
              <a:t>Sample Basic Paragraph.</a:t>
            </a:r>
            <a:r>
              <a:rPr lang="en-US" baseline="0" dirty="0"/>
              <a:t> </a:t>
            </a:r>
            <a:r>
              <a:rPr lang="en-US" dirty="0"/>
              <a:t>This is what the text would look</a:t>
            </a:r>
            <a:r>
              <a:rPr lang="en-US" baseline="0" dirty="0"/>
              <a:t> like in a paragraph. This is what the text would look like in a paragraph. This is what the text would look like.</a:t>
            </a:r>
            <a:endParaRPr lang="en-US" dirty="0"/>
          </a:p>
          <a:p>
            <a:pPr lvl="0"/>
            <a:endParaRPr lang="en-US" dirty="0"/>
          </a:p>
        </p:txBody>
      </p:sp>
      <p:sp>
        <p:nvSpPr>
          <p:cNvPr id="6" name="Picture Placeholder 2"/>
          <p:cNvSpPr>
            <a:spLocks noGrp="1"/>
          </p:cNvSpPr>
          <p:nvPr>
            <p:ph type="pic" idx="11"/>
          </p:nvPr>
        </p:nvSpPr>
        <p:spPr>
          <a:xfrm>
            <a:off x="2287436" y="1187895"/>
            <a:ext cx="41148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7" name="Text Placeholder 3"/>
          <p:cNvSpPr>
            <a:spLocks noGrp="1"/>
          </p:cNvSpPr>
          <p:nvPr>
            <p:ph type="body" sz="half" idx="2" hasCustomPrompt="1"/>
          </p:nvPr>
        </p:nvSpPr>
        <p:spPr>
          <a:xfrm>
            <a:off x="2287436" y="4297179"/>
            <a:ext cx="4114800" cy="400870"/>
          </a:xfrm>
        </p:spPr>
        <p:txBody>
          <a:bodyPr/>
          <a:lstStyle>
            <a:lvl1pPr marL="0" indent="0">
              <a:buNone/>
              <a:defRPr sz="900">
                <a:solidFill>
                  <a:srgbClr val="6F868D"/>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IMAGE CAPTION</a:t>
            </a:r>
          </a:p>
        </p:txBody>
      </p:sp>
    </p:spTree>
    <p:extLst>
      <p:ext uri="{BB962C8B-B14F-4D97-AF65-F5344CB8AC3E}">
        <p14:creationId xmlns:p14="http://schemas.microsoft.com/office/powerpoint/2010/main" val="154986298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8FA3B0AC-9194-3147-91C1-7FC7FBA87A18}" type="slidenum">
              <a:rPr lang="en-US" smtClean="0"/>
              <a:t>‹#›</a:t>
            </a:fld>
            <a:endParaRPr lang="en-US" dirty="0"/>
          </a:p>
        </p:txBody>
      </p:sp>
    </p:spTree>
    <p:extLst>
      <p:ext uri="{BB962C8B-B14F-4D97-AF65-F5344CB8AC3E}">
        <p14:creationId xmlns:p14="http://schemas.microsoft.com/office/powerpoint/2010/main" val="770213026"/>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5" name="Rectangle 1"/>
          <p:cNvSpPr>
            <a:spLocks noGrp="1" noChangeArrowheads="1"/>
          </p:cNvSpPr>
          <p:nvPr>
            <p:ph type="title"/>
          </p:nvPr>
        </p:nvSpPr>
        <p:spPr bwMode="auto">
          <a:xfrm>
            <a:off x="514350" y="1597026"/>
            <a:ext cx="5829300" cy="1103313"/>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wrap="square" lIns="38100" tIns="38100" rIns="38100" bIns="38100" numCol="1" anchor="ctr" anchorCtr="0" compatLnSpc="1">
            <a:prstTxWarp prst="textNoShape">
              <a:avLst/>
            </a:prstTxWarp>
          </a:bodyPr>
          <a:lstStyle/>
          <a:p>
            <a:pPr lvl="0"/>
            <a:r>
              <a:rPr lang="en-US" dirty="0">
                <a:sym typeface="Calibri" charset="0"/>
              </a:rPr>
              <a:t>Click to edit Master title style</a:t>
            </a:r>
          </a:p>
        </p:txBody>
      </p:sp>
      <p:sp>
        <p:nvSpPr>
          <p:cNvPr id="1026" name="Rectangle 2"/>
          <p:cNvSpPr>
            <a:spLocks noGrp="1" noChangeArrowheads="1"/>
          </p:cNvSpPr>
          <p:nvPr>
            <p:ph type="body" idx="1"/>
          </p:nvPr>
        </p:nvSpPr>
        <p:spPr bwMode="auto">
          <a:xfrm>
            <a:off x="1028700" y="2914650"/>
            <a:ext cx="4800600" cy="195603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wrap="square" lIns="38100" tIns="38100" rIns="38100" bIns="38100" numCol="1" anchor="t" anchorCtr="0" compatLnSpc="1">
            <a:prstTxWarp prst="textNoShape">
              <a:avLst/>
            </a:prstTxWarp>
          </a:bodyPr>
          <a:lstStyle/>
          <a:p>
            <a:pPr lvl="0"/>
            <a:r>
              <a:rPr lang="en-US" dirty="0">
                <a:sym typeface="Calibri" charset="0"/>
              </a:rPr>
              <a:t>Click to edit Master text styles</a:t>
            </a:r>
          </a:p>
          <a:p>
            <a:pPr lvl="1"/>
            <a:r>
              <a:rPr lang="en-US" dirty="0">
                <a:sym typeface="Calibri" charset="0"/>
              </a:rPr>
              <a:t>Second level</a:t>
            </a:r>
          </a:p>
          <a:p>
            <a:pPr lvl="2"/>
            <a:r>
              <a:rPr lang="en-US" dirty="0">
                <a:sym typeface="Calibri" charset="0"/>
              </a:rPr>
              <a:t>Third level</a:t>
            </a:r>
          </a:p>
          <a:p>
            <a:pPr lvl="3"/>
            <a:r>
              <a:rPr lang="en-US" dirty="0">
                <a:sym typeface="Calibri" charset="0"/>
              </a:rPr>
              <a:t>Fourth level</a:t>
            </a:r>
          </a:p>
          <a:p>
            <a:pPr lvl="4"/>
            <a:r>
              <a:rPr lang="en-US" dirty="0">
                <a:sym typeface="Calibri" charset="0"/>
              </a:rPr>
              <a:t>Fifth level</a:t>
            </a:r>
          </a:p>
        </p:txBody>
      </p:sp>
      <p:pic>
        <p:nvPicPr>
          <p:cNvPr id="8" name="Picture 7" descr="triangle_page#.png"/>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3213838" y="4825556"/>
            <a:ext cx="431639" cy="317944"/>
          </a:xfrm>
          <a:prstGeom prst="rect">
            <a:avLst/>
          </a:prstGeom>
        </p:spPr>
      </p:pic>
      <p:sp>
        <p:nvSpPr>
          <p:cNvPr id="1027" name="Text Box 3"/>
          <p:cNvSpPr txBox="1">
            <a:spLocks noGrp="1" noChangeArrowheads="1"/>
          </p:cNvSpPr>
          <p:nvPr>
            <p:ph type="sldNum" sz="quarter" idx="4"/>
          </p:nvPr>
        </p:nvSpPr>
        <p:spPr bwMode="auto">
          <a:xfrm>
            <a:off x="3236542" y="4882202"/>
            <a:ext cx="379137" cy="261298"/>
          </a:xfrm>
          <a:prstGeom prst="rect">
            <a:avLst/>
          </a:pr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vert="horz" wrap="none" lIns="91440" tIns="45720" rIns="91440" bIns="45720" numCol="1" anchor="ctr" anchorCtr="0" compatLnSpc="1">
            <a:prstTxWarp prst="textNoShape">
              <a:avLst/>
            </a:prstTxWarp>
          </a:bodyPr>
          <a:lstStyle>
            <a:lvl1pPr algn="ctr">
              <a:defRPr sz="900">
                <a:solidFill>
                  <a:srgbClr val="FFFFFF"/>
                </a:solidFill>
                <a:latin typeface="+mn-lt"/>
                <a:ea typeface="ＭＳ Ｐゴシック" charset="0"/>
                <a:cs typeface="Calibri" charset="0"/>
                <a:sym typeface="Calibri" charset="0"/>
              </a:defRPr>
            </a:lvl1pPr>
            <a:lvl2pPr algn="l">
              <a:defRPr sz="900">
                <a:solidFill>
                  <a:schemeClr val="tx1"/>
                </a:solidFill>
                <a:latin typeface="Gill Sans" charset="0"/>
                <a:ea typeface="ＭＳ Ｐゴシック" charset="0"/>
              </a:defRPr>
            </a:lvl2pPr>
            <a:lvl3pPr algn="l">
              <a:defRPr sz="900">
                <a:solidFill>
                  <a:schemeClr val="tx1"/>
                </a:solidFill>
                <a:latin typeface="Gill Sans" charset="0"/>
                <a:ea typeface="ＭＳ Ｐゴシック" charset="0"/>
              </a:defRPr>
            </a:lvl3pPr>
            <a:lvl4pPr algn="l">
              <a:defRPr sz="900">
                <a:solidFill>
                  <a:schemeClr val="tx1"/>
                </a:solidFill>
                <a:latin typeface="Gill Sans" charset="0"/>
                <a:ea typeface="ＭＳ Ｐゴシック" charset="0"/>
              </a:defRPr>
            </a:lvl4pPr>
            <a:lvl5pPr algn="l">
              <a:defRPr sz="900">
                <a:solidFill>
                  <a:schemeClr val="tx1"/>
                </a:solidFill>
                <a:latin typeface="Gill Sans" charset="0"/>
                <a:ea typeface="ＭＳ Ｐゴシック" charset="0"/>
              </a:defRPr>
            </a:lvl5pPr>
            <a:lvl6pPr fontAlgn="base">
              <a:spcBef>
                <a:spcPct val="0"/>
              </a:spcBef>
              <a:spcAft>
                <a:spcPct val="0"/>
              </a:spcAft>
              <a:defRPr sz="900">
                <a:solidFill>
                  <a:schemeClr val="tx1"/>
                </a:solidFill>
                <a:latin typeface="Gill Sans" charset="0"/>
                <a:ea typeface="ＭＳ Ｐゴシック" charset="0"/>
              </a:defRPr>
            </a:lvl6pPr>
            <a:lvl7pPr fontAlgn="base">
              <a:spcBef>
                <a:spcPct val="0"/>
              </a:spcBef>
              <a:spcAft>
                <a:spcPct val="0"/>
              </a:spcAft>
              <a:defRPr sz="900">
                <a:solidFill>
                  <a:schemeClr val="tx1"/>
                </a:solidFill>
                <a:latin typeface="Gill Sans" charset="0"/>
                <a:ea typeface="ＭＳ Ｐゴシック" charset="0"/>
              </a:defRPr>
            </a:lvl7pPr>
            <a:lvl8pPr fontAlgn="base">
              <a:spcBef>
                <a:spcPct val="0"/>
              </a:spcBef>
              <a:spcAft>
                <a:spcPct val="0"/>
              </a:spcAft>
              <a:defRPr sz="900">
                <a:solidFill>
                  <a:schemeClr val="tx1"/>
                </a:solidFill>
                <a:latin typeface="Gill Sans" charset="0"/>
                <a:ea typeface="ＭＳ Ｐゴシック" charset="0"/>
              </a:defRPr>
            </a:lvl8pPr>
            <a:lvl9pPr fontAlgn="base">
              <a:spcBef>
                <a:spcPct val="0"/>
              </a:spcBef>
              <a:spcAft>
                <a:spcPct val="0"/>
              </a:spcAft>
              <a:defRPr sz="900">
                <a:solidFill>
                  <a:schemeClr val="tx1"/>
                </a:solidFill>
                <a:latin typeface="Gill Sans" charset="0"/>
                <a:ea typeface="ＭＳ Ｐゴシック" charset="0"/>
              </a:defRPr>
            </a:lvl9pPr>
          </a:lstStyle>
          <a:p>
            <a:pPr>
              <a:defRPr/>
            </a:pPr>
            <a:fld id="{49B76813-089B-5346-A50D-90CF445FC7AE}"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88" r:id="rId2"/>
    <p:sldLayoutId id="2147483677" r:id="rId3"/>
    <p:sldLayoutId id="2147483687" r:id="rId4"/>
    <p:sldLayoutId id="2147483678" r:id="rId5"/>
    <p:sldLayoutId id="2147483692" r:id="rId6"/>
    <p:sldLayoutId id="2147483709" r:id="rId7"/>
    <p:sldLayoutId id="2147483708" r:id="rId8"/>
  </p:sldLayoutIdLst>
  <p:transition/>
  <p:hf hdr="0" ftr="0" dt="0"/>
  <p:txStyles>
    <p:titleStyle>
      <a:lvl1pPr algn="ctr" rtl="0" eaLnBrk="0" fontAlgn="base" hangingPunct="0">
        <a:spcBef>
          <a:spcPct val="0"/>
        </a:spcBef>
        <a:spcAft>
          <a:spcPct val="0"/>
        </a:spcAft>
        <a:defRPr sz="2700" b="1" i="0">
          <a:solidFill>
            <a:srgbClr val="0C234B"/>
          </a:solidFill>
          <a:latin typeface="Verdana"/>
          <a:ea typeface="+mj-ea"/>
          <a:cs typeface="+mj-cs"/>
          <a:sym typeface="Calibri" charset="0"/>
        </a:defRPr>
      </a:lvl1pPr>
      <a:lvl2pPr algn="ctr" rtl="0" eaLnBrk="0" fontAlgn="base" hangingPunct="0">
        <a:spcBef>
          <a:spcPct val="0"/>
        </a:spcBef>
        <a:spcAft>
          <a:spcPct val="0"/>
        </a:spcAft>
        <a:defRPr sz="3300">
          <a:solidFill>
            <a:schemeClr val="tx1"/>
          </a:solidFill>
          <a:latin typeface="Calibri" charset="0"/>
          <a:ea typeface="ヒラギノ角ゴ ProN W3" charset="0"/>
          <a:cs typeface="ヒラギノ角ゴ ProN W3" charset="0"/>
          <a:sym typeface="Calibri" charset="0"/>
        </a:defRPr>
      </a:lvl2pPr>
      <a:lvl3pPr algn="ctr" rtl="0" eaLnBrk="0" fontAlgn="base" hangingPunct="0">
        <a:spcBef>
          <a:spcPct val="0"/>
        </a:spcBef>
        <a:spcAft>
          <a:spcPct val="0"/>
        </a:spcAft>
        <a:defRPr sz="3300">
          <a:solidFill>
            <a:schemeClr val="tx1"/>
          </a:solidFill>
          <a:latin typeface="Calibri" charset="0"/>
          <a:ea typeface="ヒラギノ角ゴ ProN W3" charset="0"/>
          <a:cs typeface="ヒラギノ角ゴ ProN W3" charset="0"/>
          <a:sym typeface="Calibri" charset="0"/>
        </a:defRPr>
      </a:lvl3pPr>
      <a:lvl4pPr algn="ctr" rtl="0" eaLnBrk="0" fontAlgn="base" hangingPunct="0">
        <a:spcBef>
          <a:spcPct val="0"/>
        </a:spcBef>
        <a:spcAft>
          <a:spcPct val="0"/>
        </a:spcAft>
        <a:defRPr sz="3300">
          <a:solidFill>
            <a:schemeClr val="tx1"/>
          </a:solidFill>
          <a:latin typeface="Calibri" charset="0"/>
          <a:ea typeface="ヒラギノ角ゴ ProN W3" charset="0"/>
          <a:cs typeface="ヒラギノ角ゴ ProN W3" charset="0"/>
          <a:sym typeface="Calibri" charset="0"/>
        </a:defRPr>
      </a:lvl4pPr>
      <a:lvl5pPr algn="ctr" rtl="0" eaLnBrk="0" fontAlgn="base" hangingPunct="0">
        <a:spcBef>
          <a:spcPct val="0"/>
        </a:spcBef>
        <a:spcAft>
          <a:spcPct val="0"/>
        </a:spcAft>
        <a:defRPr sz="3300">
          <a:solidFill>
            <a:schemeClr val="tx1"/>
          </a:solidFill>
          <a:latin typeface="Calibri" charset="0"/>
          <a:ea typeface="ヒラギノ角ゴ ProN W3" charset="0"/>
          <a:cs typeface="ヒラギノ角ゴ ProN W3" charset="0"/>
          <a:sym typeface="Calibri" charset="0"/>
        </a:defRPr>
      </a:lvl5pPr>
      <a:lvl6pPr marL="342900" algn="ctr" rtl="0" fontAlgn="base">
        <a:spcBef>
          <a:spcPct val="0"/>
        </a:spcBef>
        <a:spcAft>
          <a:spcPct val="0"/>
        </a:spcAft>
        <a:defRPr sz="3300">
          <a:solidFill>
            <a:schemeClr val="tx1"/>
          </a:solidFill>
          <a:latin typeface="Calibri" charset="0"/>
          <a:ea typeface="ヒラギノ角ゴ ProN W3" charset="0"/>
          <a:cs typeface="ヒラギノ角ゴ ProN W3" charset="0"/>
          <a:sym typeface="Calibri" charset="0"/>
        </a:defRPr>
      </a:lvl6pPr>
      <a:lvl7pPr marL="685800" algn="ctr" rtl="0" fontAlgn="base">
        <a:spcBef>
          <a:spcPct val="0"/>
        </a:spcBef>
        <a:spcAft>
          <a:spcPct val="0"/>
        </a:spcAft>
        <a:defRPr sz="3300">
          <a:solidFill>
            <a:schemeClr val="tx1"/>
          </a:solidFill>
          <a:latin typeface="Calibri" charset="0"/>
          <a:ea typeface="ヒラギノ角ゴ ProN W3" charset="0"/>
          <a:cs typeface="ヒラギノ角ゴ ProN W3" charset="0"/>
          <a:sym typeface="Calibri" charset="0"/>
        </a:defRPr>
      </a:lvl7pPr>
      <a:lvl8pPr marL="1028700" algn="ctr" rtl="0" fontAlgn="base">
        <a:spcBef>
          <a:spcPct val="0"/>
        </a:spcBef>
        <a:spcAft>
          <a:spcPct val="0"/>
        </a:spcAft>
        <a:defRPr sz="3300">
          <a:solidFill>
            <a:schemeClr val="tx1"/>
          </a:solidFill>
          <a:latin typeface="Calibri" charset="0"/>
          <a:ea typeface="ヒラギノ角ゴ ProN W3" charset="0"/>
          <a:cs typeface="ヒラギノ角ゴ ProN W3" charset="0"/>
          <a:sym typeface="Calibri" charset="0"/>
        </a:defRPr>
      </a:lvl8pPr>
      <a:lvl9pPr marL="1371600" algn="ctr" rtl="0" fontAlgn="base">
        <a:spcBef>
          <a:spcPct val="0"/>
        </a:spcBef>
        <a:spcAft>
          <a:spcPct val="0"/>
        </a:spcAft>
        <a:defRPr sz="3300">
          <a:solidFill>
            <a:schemeClr val="tx1"/>
          </a:solidFill>
          <a:latin typeface="Calibri" charset="0"/>
          <a:ea typeface="ヒラギノ角ゴ ProN W3" charset="0"/>
          <a:cs typeface="ヒラギノ角ゴ ProN W3" charset="0"/>
          <a:sym typeface="Calibri" charset="0"/>
        </a:defRPr>
      </a:lvl9pPr>
    </p:titleStyle>
    <p:bodyStyle>
      <a:lvl1pPr marL="257175" indent="-257175" algn="ctr" rtl="0" eaLnBrk="0" fontAlgn="base" hangingPunct="0">
        <a:spcBef>
          <a:spcPts val="600"/>
        </a:spcBef>
        <a:spcAft>
          <a:spcPct val="0"/>
        </a:spcAft>
        <a:buClr>
          <a:srgbClr val="BE0B34"/>
        </a:buClr>
        <a:buFont typeface="Arial"/>
        <a:buChar char="•"/>
        <a:defRPr sz="1500">
          <a:solidFill>
            <a:schemeClr val="tx2">
              <a:lumMod val="75000"/>
              <a:lumOff val="25000"/>
            </a:schemeClr>
          </a:solidFill>
          <a:latin typeface="Verdana"/>
          <a:ea typeface="+mn-ea"/>
          <a:cs typeface="Verdana"/>
          <a:sym typeface="Calibri" charset="0"/>
        </a:defRPr>
      </a:lvl1pPr>
      <a:lvl2pPr marL="528638" indent="-214313" algn="ctr" rtl="0" eaLnBrk="0" fontAlgn="base" hangingPunct="0">
        <a:spcBef>
          <a:spcPts val="525"/>
        </a:spcBef>
        <a:spcAft>
          <a:spcPct val="0"/>
        </a:spcAft>
        <a:buClr>
          <a:srgbClr val="BE0B34"/>
        </a:buClr>
        <a:buFont typeface="Arial"/>
        <a:buChar char="•"/>
        <a:defRPr sz="1200">
          <a:solidFill>
            <a:schemeClr val="tx2">
              <a:lumMod val="75000"/>
              <a:lumOff val="25000"/>
            </a:schemeClr>
          </a:solidFill>
          <a:latin typeface="Verdana"/>
          <a:ea typeface="+mn-ea"/>
          <a:cs typeface="Verdana"/>
          <a:sym typeface="Calibri" charset="0"/>
        </a:defRPr>
      </a:lvl2pPr>
      <a:lvl3pPr marL="785813" indent="-128588" algn="ctr" rtl="0" eaLnBrk="0" fontAlgn="base" hangingPunct="0">
        <a:spcBef>
          <a:spcPts val="450"/>
        </a:spcBef>
        <a:spcAft>
          <a:spcPct val="0"/>
        </a:spcAft>
        <a:buClr>
          <a:srgbClr val="BE0B34"/>
        </a:buClr>
        <a:buFont typeface="Arial"/>
        <a:buChar char="•"/>
        <a:defRPr sz="900">
          <a:solidFill>
            <a:schemeClr val="tx2">
              <a:lumMod val="75000"/>
              <a:lumOff val="25000"/>
            </a:schemeClr>
          </a:solidFill>
          <a:latin typeface="Verdana"/>
          <a:ea typeface="+mn-ea"/>
          <a:cs typeface="Verdana"/>
          <a:sym typeface="Calibri" charset="0"/>
        </a:defRPr>
      </a:lvl3pPr>
      <a:lvl4pPr marL="1128713" indent="-128588" algn="ctr" rtl="0" eaLnBrk="0" fontAlgn="base" hangingPunct="0">
        <a:spcBef>
          <a:spcPts val="375"/>
        </a:spcBef>
        <a:spcAft>
          <a:spcPct val="0"/>
        </a:spcAft>
        <a:buClr>
          <a:srgbClr val="BE0B34"/>
        </a:buClr>
        <a:buFont typeface="Arial"/>
        <a:buChar char="•"/>
        <a:defRPr sz="900">
          <a:solidFill>
            <a:schemeClr val="tx2">
              <a:lumMod val="75000"/>
              <a:lumOff val="25000"/>
            </a:schemeClr>
          </a:solidFill>
          <a:latin typeface="Verdana"/>
          <a:ea typeface="+mn-ea"/>
          <a:cs typeface="Verdana"/>
          <a:sym typeface="Calibri" charset="0"/>
        </a:defRPr>
      </a:lvl4pPr>
      <a:lvl5pPr marL="1471613" indent="-128588" algn="ctr" rtl="0" eaLnBrk="0" fontAlgn="base" hangingPunct="0">
        <a:spcBef>
          <a:spcPts val="375"/>
        </a:spcBef>
        <a:spcAft>
          <a:spcPct val="0"/>
        </a:spcAft>
        <a:buClr>
          <a:srgbClr val="BE0B34"/>
        </a:buClr>
        <a:buFont typeface="Arial"/>
        <a:buChar char="•"/>
        <a:defRPr sz="900">
          <a:solidFill>
            <a:schemeClr val="tx2">
              <a:lumMod val="75000"/>
              <a:lumOff val="25000"/>
            </a:schemeClr>
          </a:solidFill>
          <a:latin typeface="Verdana"/>
          <a:ea typeface="+mn-ea"/>
          <a:cs typeface="Verdana"/>
          <a:sym typeface="Calibri" charset="0"/>
        </a:defRPr>
      </a:lvl5pPr>
      <a:lvl6pPr marL="1685925" algn="ctr" rtl="0" fontAlgn="base">
        <a:spcBef>
          <a:spcPts val="375"/>
        </a:spcBef>
        <a:spcAft>
          <a:spcPct val="0"/>
        </a:spcAft>
        <a:defRPr sz="1500">
          <a:solidFill>
            <a:srgbClr val="878787"/>
          </a:solidFill>
          <a:latin typeface="+mn-lt"/>
          <a:ea typeface="+mn-ea"/>
          <a:cs typeface="+mn-cs"/>
          <a:sym typeface="Calibri" charset="0"/>
        </a:defRPr>
      </a:lvl6pPr>
      <a:lvl7pPr marL="2028825" algn="ctr" rtl="0" fontAlgn="base">
        <a:spcBef>
          <a:spcPts val="375"/>
        </a:spcBef>
        <a:spcAft>
          <a:spcPct val="0"/>
        </a:spcAft>
        <a:defRPr sz="1500">
          <a:solidFill>
            <a:srgbClr val="878787"/>
          </a:solidFill>
          <a:latin typeface="+mn-lt"/>
          <a:ea typeface="+mn-ea"/>
          <a:cs typeface="+mn-cs"/>
          <a:sym typeface="Calibri" charset="0"/>
        </a:defRPr>
      </a:lvl7pPr>
      <a:lvl8pPr marL="2371725" algn="ctr" rtl="0" fontAlgn="base">
        <a:spcBef>
          <a:spcPts val="375"/>
        </a:spcBef>
        <a:spcAft>
          <a:spcPct val="0"/>
        </a:spcAft>
        <a:defRPr sz="1500">
          <a:solidFill>
            <a:srgbClr val="878787"/>
          </a:solidFill>
          <a:latin typeface="+mn-lt"/>
          <a:ea typeface="+mn-ea"/>
          <a:cs typeface="+mn-cs"/>
          <a:sym typeface="Calibri" charset="0"/>
        </a:defRPr>
      </a:lvl8pPr>
      <a:lvl9pPr marL="2714625" algn="ctr" rtl="0" fontAlgn="base">
        <a:spcBef>
          <a:spcPts val="375"/>
        </a:spcBef>
        <a:spcAft>
          <a:spcPct val="0"/>
        </a:spcAft>
        <a:defRPr sz="1500">
          <a:solidFill>
            <a:srgbClr val="878787"/>
          </a:solidFill>
          <a:latin typeface="+mn-lt"/>
          <a:ea typeface="+mn-ea"/>
          <a:cs typeface="+mn-cs"/>
          <a:sym typeface="Calibri" charset="0"/>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367" y="1742693"/>
            <a:ext cx="5829300" cy="1101725"/>
          </a:xfrm>
        </p:spPr>
        <p:txBody>
          <a:bodyPr/>
          <a:lstStyle/>
          <a:p>
            <a:r>
              <a:rPr lang="en-US" sz="2000" dirty="0">
                <a:latin typeface="Arial" panose="020B0604020202020204" pitchFamily="34" charset="0"/>
                <a:cs typeface="Arial" panose="020B0604020202020204" pitchFamily="34" charset="0"/>
              </a:rPr>
              <a:t>Clustering Stability in Healthcare Data: </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The Impact of Distance Metrics on Computational Phenotyping</a:t>
            </a:r>
            <a:endParaRPr lang="en-US" sz="2000" dirty="0">
              <a:solidFill>
                <a:srgbClr val="0C234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6017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dirty="0">
                <a:latin typeface="Arial" panose="020B0604020202020204" pitchFamily="34" charset="0"/>
                <a:cs typeface="Arial" panose="020B0604020202020204" pitchFamily="34" charset="0"/>
              </a:rPr>
              <a:t>Clustering Stability in Healthcare Data</a:t>
            </a:r>
          </a:p>
        </p:txBody>
      </p:sp>
      <p:sp>
        <p:nvSpPr>
          <p:cNvPr id="3" name="Content Placeholder 2"/>
          <p:cNvSpPr>
            <a:spLocks noGrp="1"/>
          </p:cNvSpPr>
          <p:nvPr>
            <p:ph idx="1"/>
          </p:nvPr>
        </p:nvSpPr>
        <p:spPr>
          <a:xfrm>
            <a:off x="574082" y="979383"/>
            <a:ext cx="2699448" cy="3706335"/>
          </a:xfrm>
        </p:spPr>
        <p:txBody>
          <a:bodyPr>
            <a:noAutofit/>
          </a:bodyPr>
          <a:lstStyle/>
          <a:p>
            <a:pPr marL="0" indent="0">
              <a:buNone/>
            </a:pPr>
            <a:r>
              <a:rPr lang="en-US" sz="1800" b="1" dirty="0">
                <a:solidFill>
                  <a:srgbClr val="0C234B"/>
                </a:solidFill>
                <a:latin typeface="Arial" panose="020B0604020202020204" pitchFamily="34" charset="0"/>
                <a:ea typeface="+mj-ea"/>
                <a:cs typeface="Arial" panose="020B0604020202020204" pitchFamily="34" charset="0"/>
              </a:rPr>
              <a:t>Personal Introduction</a:t>
            </a:r>
          </a:p>
          <a:p>
            <a:r>
              <a:rPr lang="en-US" sz="1800" dirty="0">
                <a:solidFill>
                  <a:srgbClr val="0C234B"/>
                </a:solidFill>
                <a:latin typeface="Arial" panose="020B0604020202020204" pitchFamily="34" charset="0"/>
                <a:ea typeface="+mj-ea"/>
                <a:cs typeface="Arial" panose="020B0604020202020204" pitchFamily="34" charset="0"/>
              </a:rPr>
              <a:t>Todd Adams</a:t>
            </a:r>
          </a:p>
          <a:p>
            <a:r>
              <a:rPr lang="en-US" sz="1800" dirty="0">
                <a:solidFill>
                  <a:srgbClr val="0C234B"/>
                </a:solidFill>
                <a:latin typeface="Arial" panose="020B0604020202020204" pitchFamily="34" charset="0"/>
                <a:ea typeface="+mj-ea"/>
                <a:cs typeface="Arial" panose="020B0604020202020204" pitchFamily="34" charset="0"/>
              </a:rPr>
              <a:t>Ph.D. in Nursing student</a:t>
            </a:r>
          </a:p>
          <a:p>
            <a:r>
              <a:rPr lang="en-US" sz="1800" dirty="0">
                <a:solidFill>
                  <a:srgbClr val="0C234B"/>
                </a:solidFill>
                <a:latin typeface="Arial" panose="020B0604020202020204" pitchFamily="34" charset="0"/>
                <a:ea typeface="+mj-ea"/>
                <a:cs typeface="Arial" panose="020B0604020202020204" pitchFamily="34" charset="0"/>
              </a:rPr>
              <a:t>Current Psychiatric Mental Health Nurse Practitioner</a:t>
            </a:r>
          </a:p>
          <a:p>
            <a:r>
              <a:rPr lang="en-US" sz="1800" dirty="0">
                <a:solidFill>
                  <a:srgbClr val="0C234B"/>
                </a:solidFill>
                <a:latin typeface="Arial" panose="020B0604020202020204" pitchFamily="34" charset="0"/>
                <a:ea typeface="+mj-ea"/>
                <a:cs typeface="Arial" panose="020B0604020202020204" pitchFamily="34" charset="0"/>
              </a:rPr>
              <a:t>Background in critical care and emergency medicine</a:t>
            </a:r>
          </a:p>
        </p:txBody>
      </p:sp>
      <p:sp>
        <p:nvSpPr>
          <p:cNvPr id="4" name="Content Placeholder 3"/>
          <p:cNvSpPr>
            <a:spLocks noGrp="1"/>
          </p:cNvSpPr>
          <p:nvPr>
            <p:ph idx="13"/>
          </p:nvPr>
        </p:nvSpPr>
        <p:spPr>
          <a:xfrm>
            <a:off x="3557514" y="979383"/>
            <a:ext cx="2699448" cy="3706335"/>
          </a:xfrm>
        </p:spPr>
        <p:txBody>
          <a:bodyPr>
            <a:noAutofit/>
          </a:bodyPr>
          <a:lstStyle/>
          <a:p>
            <a:pPr marL="0" indent="0">
              <a:buFont typeface="Arial"/>
              <a:buNone/>
            </a:pPr>
            <a:r>
              <a:rPr lang="en-US" sz="1800" b="1" dirty="0">
                <a:solidFill>
                  <a:srgbClr val="0C234B"/>
                </a:solidFill>
                <a:latin typeface="Arial" panose="020B0604020202020204" pitchFamily="34" charset="0"/>
                <a:ea typeface="+mj-ea"/>
                <a:cs typeface="Arial" panose="020B0604020202020204" pitchFamily="34" charset="0"/>
              </a:rPr>
              <a:t>Research Interests</a:t>
            </a:r>
          </a:p>
          <a:p>
            <a:r>
              <a:rPr lang="en-US" sz="1800" dirty="0">
                <a:solidFill>
                  <a:srgbClr val="0C234B"/>
                </a:solidFill>
                <a:latin typeface="Arial" panose="020B0604020202020204" pitchFamily="34" charset="0"/>
                <a:ea typeface="+mj-ea"/>
                <a:cs typeface="Arial" panose="020B0604020202020204" pitchFamily="34" charset="0"/>
              </a:rPr>
              <a:t>Computational phenotyping in healthcare</a:t>
            </a:r>
          </a:p>
          <a:p>
            <a:r>
              <a:rPr lang="en-US" sz="1800" dirty="0">
                <a:solidFill>
                  <a:srgbClr val="0C234B"/>
                </a:solidFill>
                <a:latin typeface="Arial" panose="020B0604020202020204" pitchFamily="34" charset="0"/>
                <a:ea typeface="+mj-ea"/>
                <a:cs typeface="Arial" panose="020B0604020202020204" pitchFamily="34" charset="0"/>
              </a:rPr>
              <a:t>Identifying subgroups related to readmission risk</a:t>
            </a:r>
          </a:p>
          <a:p>
            <a:r>
              <a:rPr lang="en-US" sz="1800" dirty="0">
                <a:solidFill>
                  <a:srgbClr val="0C234B"/>
                </a:solidFill>
                <a:latin typeface="Arial" panose="020B0604020202020204" pitchFamily="34" charset="0"/>
                <a:ea typeface="+mj-ea"/>
                <a:cs typeface="Arial" panose="020B0604020202020204" pitchFamily="34" charset="0"/>
              </a:rPr>
              <a:t>Integrating AI into nursing education</a:t>
            </a:r>
          </a:p>
          <a:p>
            <a:r>
              <a:rPr lang="en-US" sz="1800" dirty="0">
                <a:solidFill>
                  <a:srgbClr val="0C234B"/>
                </a:solidFill>
                <a:latin typeface="Arial" panose="020B0604020202020204" pitchFamily="34" charset="0"/>
                <a:ea typeface="+mj-ea"/>
                <a:cs typeface="Arial" panose="020B0604020202020204" pitchFamily="34" charset="0"/>
              </a:rPr>
              <a:t>NIH AIM-AHEAD machine learning training.</a:t>
            </a:r>
            <a:endParaRPr sz="1800" dirty="0">
              <a:solidFill>
                <a:srgbClr val="0C234B"/>
              </a:solidFill>
              <a:latin typeface="Arial" panose="020B0604020202020204" pitchFamily="34" charset="0"/>
              <a:ea typeface="+mj-ea"/>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endParaRPr dirty="0"/>
          </a:p>
        </p:txBody>
      </p:sp>
      <p:sp>
        <p:nvSpPr>
          <p:cNvPr id="3" name="Content Placeholder 2"/>
          <p:cNvSpPr>
            <a:spLocks noGrp="1"/>
          </p:cNvSpPr>
          <p:nvPr>
            <p:ph idx="1"/>
          </p:nvPr>
        </p:nvSpPr>
        <p:spPr>
          <a:xfrm>
            <a:off x="569441" y="1011874"/>
            <a:ext cx="2699448" cy="3673844"/>
          </a:xfrm>
        </p:spPr>
        <p:txBody>
          <a:bodyPr>
            <a:normAutofit fontScale="92500" lnSpcReduction="20000"/>
          </a:bodyPr>
          <a:lstStyle/>
          <a:p>
            <a:pPr marL="0" indent="0">
              <a:buNone/>
            </a:pPr>
            <a:r>
              <a:rPr lang="en-US" sz="1800" b="1" dirty="0">
                <a:solidFill>
                  <a:srgbClr val="0C234B"/>
                </a:solidFill>
                <a:latin typeface="Arial" panose="020B0604020202020204" pitchFamily="34" charset="0"/>
                <a:ea typeface="+mj-ea"/>
                <a:cs typeface="Arial" panose="020B0604020202020204" pitchFamily="34" charset="0"/>
              </a:rPr>
              <a:t>Current State</a:t>
            </a:r>
          </a:p>
          <a:p>
            <a:r>
              <a:rPr lang="en-US" sz="1800" dirty="0">
                <a:solidFill>
                  <a:srgbClr val="0C234B"/>
                </a:solidFill>
                <a:latin typeface="Arial" panose="020B0604020202020204" pitchFamily="34" charset="0"/>
                <a:ea typeface="+mj-ea"/>
                <a:cs typeface="Arial" panose="020B0604020202020204" pitchFamily="34" charset="0"/>
              </a:rPr>
              <a:t>In healthcare research, c</a:t>
            </a:r>
            <a:r>
              <a:rPr sz="1800" dirty="0">
                <a:solidFill>
                  <a:srgbClr val="0C234B"/>
                </a:solidFill>
                <a:latin typeface="Arial" panose="020B0604020202020204" pitchFamily="34" charset="0"/>
                <a:ea typeface="+mj-ea"/>
                <a:cs typeface="Arial" panose="020B0604020202020204" pitchFamily="34" charset="0"/>
              </a:rPr>
              <a:t>omputational phenotyping</a:t>
            </a:r>
            <a:r>
              <a:rPr lang="en-US" sz="1800" dirty="0">
                <a:solidFill>
                  <a:srgbClr val="0C234B"/>
                </a:solidFill>
                <a:latin typeface="Arial" panose="020B0604020202020204" pitchFamily="34" charset="0"/>
                <a:ea typeface="+mj-ea"/>
                <a:cs typeface="Arial" panose="020B0604020202020204" pitchFamily="34" charset="0"/>
              </a:rPr>
              <a:t> methods (clustering)</a:t>
            </a:r>
            <a:r>
              <a:rPr sz="1800" dirty="0">
                <a:solidFill>
                  <a:srgbClr val="0C234B"/>
                </a:solidFill>
                <a:latin typeface="Arial" panose="020B0604020202020204" pitchFamily="34" charset="0"/>
                <a:ea typeface="+mj-ea"/>
                <a:cs typeface="Arial" panose="020B0604020202020204" pitchFamily="34" charset="0"/>
              </a:rPr>
              <a:t> </a:t>
            </a:r>
            <a:r>
              <a:rPr lang="en-US" sz="1800" dirty="0">
                <a:solidFill>
                  <a:srgbClr val="0C234B"/>
                </a:solidFill>
                <a:latin typeface="Arial" panose="020B0604020202020204" pitchFamily="34" charset="0"/>
                <a:ea typeface="+mj-ea"/>
                <a:cs typeface="Arial" panose="020B0604020202020204" pitchFamily="34" charset="0"/>
              </a:rPr>
              <a:t>are</a:t>
            </a:r>
            <a:r>
              <a:rPr sz="1800" dirty="0">
                <a:solidFill>
                  <a:srgbClr val="0C234B"/>
                </a:solidFill>
                <a:latin typeface="Arial" panose="020B0604020202020204" pitchFamily="34" charset="0"/>
                <a:ea typeface="+mj-ea"/>
                <a:cs typeface="Arial" panose="020B0604020202020204" pitchFamily="34" charset="0"/>
              </a:rPr>
              <a:t> widely used</a:t>
            </a:r>
            <a:endParaRPr lang="en-US" sz="1800" dirty="0">
              <a:solidFill>
                <a:srgbClr val="0C234B"/>
              </a:solidFill>
              <a:latin typeface="Arial" panose="020B0604020202020204" pitchFamily="34" charset="0"/>
              <a:ea typeface="+mj-ea"/>
              <a:cs typeface="Arial" panose="020B0604020202020204" pitchFamily="34" charset="0"/>
            </a:endParaRPr>
          </a:p>
          <a:p>
            <a:r>
              <a:rPr lang="en-US" sz="1800" dirty="0">
                <a:solidFill>
                  <a:srgbClr val="0C234B"/>
                </a:solidFill>
                <a:latin typeface="Arial" panose="020B0604020202020204" pitchFamily="34" charset="0"/>
                <a:ea typeface="+mj-ea"/>
                <a:cs typeface="Arial" panose="020B0604020202020204" pitchFamily="34" charset="0"/>
              </a:rPr>
              <a:t>Research is focused on outcomes and particular demographics </a:t>
            </a:r>
            <a:endParaRPr sz="1800" dirty="0">
              <a:solidFill>
                <a:srgbClr val="0C234B"/>
              </a:solidFill>
              <a:latin typeface="Arial" panose="020B0604020202020204" pitchFamily="34" charset="0"/>
              <a:ea typeface="+mj-ea"/>
              <a:cs typeface="Arial" panose="020B0604020202020204" pitchFamily="34" charset="0"/>
            </a:endParaRPr>
          </a:p>
          <a:p>
            <a:endParaRPr sz="1800" dirty="0">
              <a:solidFill>
                <a:srgbClr val="0C234B"/>
              </a:solidFill>
              <a:latin typeface="Arial" panose="020B0604020202020204" pitchFamily="34" charset="0"/>
              <a:ea typeface="+mj-ea"/>
              <a:cs typeface="Arial" panose="020B0604020202020204" pitchFamily="34" charset="0"/>
            </a:endParaRPr>
          </a:p>
          <a:p>
            <a:r>
              <a:rPr lang="en-US" sz="1800" dirty="0">
                <a:solidFill>
                  <a:srgbClr val="0C234B"/>
                </a:solidFill>
                <a:latin typeface="Arial" panose="020B0604020202020204" pitchFamily="34" charset="0"/>
                <a:ea typeface="+mj-ea"/>
                <a:cs typeface="Arial" panose="020B0604020202020204" pitchFamily="34" charset="0"/>
              </a:rPr>
              <a:t>PI and Researchers are typically clinicians, not data scientist or statisticians</a:t>
            </a:r>
            <a:endParaRPr sz="1800" dirty="0">
              <a:solidFill>
                <a:srgbClr val="0C234B"/>
              </a:solidFill>
              <a:latin typeface="Arial" panose="020B0604020202020204" pitchFamily="34" charset="0"/>
              <a:ea typeface="+mj-ea"/>
              <a:cs typeface="Arial" panose="020B0604020202020204" pitchFamily="34" charset="0"/>
            </a:endParaRPr>
          </a:p>
        </p:txBody>
      </p:sp>
      <p:sp>
        <p:nvSpPr>
          <p:cNvPr id="4" name="Content Placeholder 3"/>
          <p:cNvSpPr>
            <a:spLocks noGrp="1"/>
          </p:cNvSpPr>
          <p:nvPr>
            <p:ph idx="13"/>
          </p:nvPr>
        </p:nvSpPr>
        <p:spPr>
          <a:xfrm>
            <a:off x="3542453" y="965457"/>
            <a:ext cx="2699448" cy="3673844"/>
          </a:xfrm>
        </p:spPr>
        <p:txBody>
          <a:bodyPr/>
          <a:lstStyle/>
          <a:p>
            <a:pPr marL="0" indent="0">
              <a:buNone/>
            </a:pPr>
            <a:r>
              <a:rPr lang="en-US" sz="1800" b="1" dirty="0">
                <a:solidFill>
                  <a:srgbClr val="0C234B"/>
                </a:solidFill>
                <a:latin typeface="Arial" panose="020B0604020202020204" pitchFamily="34" charset="0"/>
                <a:ea typeface="+mj-ea"/>
                <a:cs typeface="Arial" panose="020B0604020202020204" pitchFamily="34" charset="0"/>
              </a:rPr>
              <a:t>Examples</a:t>
            </a:r>
          </a:p>
          <a:p>
            <a:pPr>
              <a:lnSpc>
                <a:spcPct val="80000"/>
              </a:lnSpc>
            </a:pPr>
            <a:r>
              <a:rPr lang="en-US" sz="1700" dirty="0">
                <a:solidFill>
                  <a:srgbClr val="0C234B"/>
                </a:solidFill>
                <a:latin typeface="Arial" panose="020B0604020202020204" pitchFamily="34" charset="0"/>
                <a:ea typeface="+mj-ea"/>
                <a:cs typeface="Arial" panose="020B0604020202020204" pitchFamily="34" charset="0"/>
              </a:rPr>
              <a:t>Over 400 phenotyping studies have been registered in 2025 and 2026. (Prospero)</a:t>
            </a:r>
          </a:p>
          <a:p>
            <a:pPr>
              <a:lnSpc>
                <a:spcPct val="80000"/>
              </a:lnSpc>
            </a:pPr>
            <a:endParaRPr lang="en-US" sz="1700" dirty="0">
              <a:solidFill>
                <a:srgbClr val="0C234B"/>
              </a:solidFill>
              <a:latin typeface="Arial" panose="020B0604020202020204" pitchFamily="34" charset="0"/>
              <a:ea typeface="+mj-ea"/>
              <a:cs typeface="Arial" panose="020B0604020202020204" pitchFamily="34" charset="0"/>
            </a:endParaRPr>
          </a:p>
          <a:p>
            <a:pPr>
              <a:lnSpc>
                <a:spcPct val="80000"/>
              </a:lnSpc>
            </a:pPr>
            <a:r>
              <a:rPr lang="en-US" sz="1700" dirty="0">
                <a:solidFill>
                  <a:srgbClr val="0C234B"/>
                </a:solidFill>
                <a:latin typeface="Arial" panose="020B0604020202020204" pitchFamily="34" charset="0"/>
                <a:ea typeface="+mj-ea"/>
                <a:cs typeface="Arial" panose="020B0604020202020204" pitchFamily="34" charset="0"/>
              </a:rPr>
              <a:t>Over 99 studies have been published (PubMed).</a:t>
            </a:r>
          </a:p>
          <a:p>
            <a:pPr>
              <a:lnSpc>
                <a:spcPct val="80000"/>
              </a:lnSpc>
            </a:pPr>
            <a:endParaRPr lang="en-US" sz="1700" dirty="0">
              <a:solidFill>
                <a:srgbClr val="0C234B"/>
              </a:solidFill>
              <a:latin typeface="Arial" panose="020B0604020202020204" pitchFamily="34" charset="0"/>
              <a:ea typeface="+mj-ea"/>
              <a:cs typeface="Arial" panose="020B0604020202020204" pitchFamily="34" charset="0"/>
            </a:endParaRPr>
          </a:p>
          <a:p>
            <a:pPr>
              <a:lnSpc>
                <a:spcPct val="80000"/>
              </a:lnSpc>
            </a:pPr>
            <a:r>
              <a:rPr lang="en-US" sz="1700" dirty="0">
                <a:solidFill>
                  <a:srgbClr val="0C234B"/>
                </a:solidFill>
                <a:latin typeface="Arial" panose="020B0604020202020204" pitchFamily="34" charset="0"/>
                <a:ea typeface="+mj-ea"/>
                <a:cs typeface="Arial" panose="020B0604020202020204" pitchFamily="34" charset="0"/>
              </a:rPr>
              <a:t>Methods are given short shrift: metric choices for clustering and stability not explored.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Research Gap</a:t>
            </a:r>
          </a:p>
        </p:txBody>
      </p:sp>
      <p:sp>
        <p:nvSpPr>
          <p:cNvPr id="3" name="Content Placeholder 2"/>
          <p:cNvSpPr>
            <a:spLocks noGrp="1"/>
          </p:cNvSpPr>
          <p:nvPr>
            <p:ph idx="1"/>
          </p:nvPr>
        </p:nvSpPr>
        <p:spPr>
          <a:xfrm>
            <a:off x="574082" y="942250"/>
            <a:ext cx="2699448" cy="3743468"/>
          </a:xfrm>
        </p:spPr>
        <p:txBody>
          <a:bodyPr/>
          <a:lstStyle/>
          <a:p>
            <a:pPr marL="0" indent="0">
              <a:lnSpc>
                <a:spcPct val="90000"/>
              </a:lnSpc>
              <a:buNone/>
            </a:pPr>
            <a:r>
              <a:rPr lang="en-US" sz="1700" b="1" dirty="0">
                <a:solidFill>
                  <a:srgbClr val="0C234B"/>
                </a:solidFill>
                <a:latin typeface="Arial" panose="020B0604020202020204" pitchFamily="34" charset="0"/>
                <a:ea typeface="+mj-ea"/>
                <a:cs typeface="Arial" panose="020B0604020202020204" pitchFamily="34" charset="0"/>
              </a:rPr>
              <a:t>Research Limitations</a:t>
            </a:r>
          </a:p>
          <a:p>
            <a:pPr>
              <a:lnSpc>
                <a:spcPct val="80000"/>
              </a:lnSpc>
            </a:pPr>
            <a:r>
              <a:rPr sz="1700" dirty="0">
                <a:solidFill>
                  <a:srgbClr val="0C234B"/>
                </a:solidFill>
                <a:latin typeface="Arial" panose="020B0604020202020204" pitchFamily="34" charset="0"/>
                <a:ea typeface="+mj-ea"/>
                <a:cs typeface="Arial" panose="020B0604020202020204" pitchFamily="34" charset="0"/>
              </a:rPr>
              <a:t>No systematic evaluation of distance metrics</a:t>
            </a:r>
          </a:p>
          <a:p>
            <a:pPr>
              <a:lnSpc>
                <a:spcPct val="80000"/>
              </a:lnSpc>
            </a:pPr>
            <a:endParaRPr sz="1700" dirty="0">
              <a:solidFill>
                <a:srgbClr val="0C234B"/>
              </a:solidFill>
              <a:latin typeface="Arial" panose="020B0604020202020204" pitchFamily="34" charset="0"/>
              <a:ea typeface="+mj-ea"/>
              <a:cs typeface="Arial" panose="020B0604020202020204" pitchFamily="34" charset="0"/>
            </a:endParaRPr>
          </a:p>
          <a:p>
            <a:pPr>
              <a:lnSpc>
                <a:spcPct val="80000"/>
              </a:lnSpc>
            </a:pPr>
            <a:r>
              <a:rPr sz="1700" dirty="0">
                <a:solidFill>
                  <a:srgbClr val="0C234B"/>
                </a:solidFill>
                <a:latin typeface="Arial" panose="020B0604020202020204" pitchFamily="34" charset="0"/>
                <a:ea typeface="+mj-ea"/>
                <a:cs typeface="Arial" panose="020B0604020202020204" pitchFamily="34" charset="0"/>
              </a:rPr>
              <a:t>Limited focus on</a:t>
            </a:r>
            <a:r>
              <a:rPr lang="en-US" sz="1700" dirty="0">
                <a:solidFill>
                  <a:srgbClr val="0C234B"/>
                </a:solidFill>
                <a:latin typeface="Arial" panose="020B0604020202020204" pitchFamily="34" charset="0"/>
                <a:ea typeface="+mj-ea"/>
                <a:cs typeface="Arial" panose="020B0604020202020204" pitchFamily="34" charset="0"/>
              </a:rPr>
              <a:t> phenotyping</a:t>
            </a:r>
            <a:r>
              <a:rPr sz="1700" dirty="0">
                <a:solidFill>
                  <a:srgbClr val="0C234B"/>
                </a:solidFill>
                <a:latin typeface="Arial" panose="020B0604020202020204" pitchFamily="34" charset="0"/>
                <a:ea typeface="+mj-ea"/>
                <a:cs typeface="Arial" panose="020B0604020202020204" pitchFamily="34" charset="0"/>
              </a:rPr>
              <a:t> stability</a:t>
            </a:r>
          </a:p>
          <a:p>
            <a:pPr>
              <a:lnSpc>
                <a:spcPct val="80000"/>
              </a:lnSpc>
            </a:pPr>
            <a:endParaRPr sz="1700" dirty="0">
              <a:solidFill>
                <a:srgbClr val="0C234B"/>
              </a:solidFill>
              <a:latin typeface="Arial" panose="020B0604020202020204" pitchFamily="34" charset="0"/>
              <a:ea typeface="+mj-ea"/>
              <a:cs typeface="Arial" panose="020B0604020202020204" pitchFamily="34" charset="0"/>
            </a:endParaRPr>
          </a:p>
          <a:p>
            <a:pPr>
              <a:lnSpc>
                <a:spcPct val="80000"/>
              </a:lnSpc>
            </a:pPr>
            <a:r>
              <a:rPr lang="en-US" sz="1700" dirty="0">
                <a:solidFill>
                  <a:srgbClr val="0C234B"/>
                </a:solidFill>
                <a:latin typeface="Arial" panose="020B0604020202020204" pitchFamily="34" charset="0"/>
                <a:ea typeface="+mj-ea"/>
                <a:cs typeface="Arial" panose="020B0604020202020204" pitchFamily="34" charset="0"/>
              </a:rPr>
              <a:t>No efforts on phenotyping taxonomies</a:t>
            </a:r>
            <a:endParaRPr sz="1700" dirty="0">
              <a:solidFill>
                <a:srgbClr val="0C234B"/>
              </a:solidFill>
              <a:latin typeface="Arial" panose="020B0604020202020204" pitchFamily="34" charset="0"/>
              <a:ea typeface="+mj-ea"/>
              <a:cs typeface="Arial" panose="020B0604020202020204" pitchFamily="34" charset="0"/>
            </a:endParaRPr>
          </a:p>
        </p:txBody>
      </p:sp>
      <p:sp>
        <p:nvSpPr>
          <p:cNvPr id="4" name="Content Placeholder 3"/>
          <p:cNvSpPr>
            <a:spLocks noGrp="1"/>
          </p:cNvSpPr>
          <p:nvPr>
            <p:ph idx="13"/>
          </p:nvPr>
        </p:nvSpPr>
        <p:spPr>
          <a:xfrm>
            <a:off x="3476577" y="909758"/>
            <a:ext cx="2765324" cy="3775960"/>
          </a:xfrm>
        </p:spPr>
        <p:txBody>
          <a:bodyPr>
            <a:normAutofit fontScale="92500"/>
          </a:bodyPr>
          <a:lstStyle/>
          <a:p>
            <a:pPr marL="0" indent="0">
              <a:buNone/>
            </a:pPr>
            <a:r>
              <a:rPr lang="en-US" sz="1800" b="1" dirty="0">
                <a:solidFill>
                  <a:srgbClr val="0C234B"/>
                </a:solidFill>
                <a:latin typeface="Arial" panose="020B0604020202020204" pitchFamily="34" charset="0"/>
                <a:ea typeface="+mj-ea"/>
                <a:cs typeface="Arial" panose="020B0604020202020204" pitchFamily="34" charset="0"/>
              </a:rPr>
              <a:t>Research Opportunities</a:t>
            </a:r>
          </a:p>
          <a:p>
            <a:pPr>
              <a:lnSpc>
                <a:spcPct val="90000"/>
              </a:lnSpc>
            </a:pPr>
            <a:r>
              <a:rPr lang="en-US" sz="1700" dirty="0">
                <a:solidFill>
                  <a:srgbClr val="0C234B"/>
                </a:solidFill>
                <a:latin typeface="Arial" panose="020B0604020202020204" pitchFamily="34" charset="0"/>
                <a:ea typeface="+mj-ea"/>
                <a:cs typeface="Arial" panose="020B0604020202020204" pitchFamily="34" charset="0"/>
              </a:rPr>
              <a:t>Systematically compare distance metrics</a:t>
            </a:r>
          </a:p>
          <a:p>
            <a:pPr>
              <a:lnSpc>
                <a:spcPct val="90000"/>
              </a:lnSpc>
            </a:pPr>
            <a:endParaRPr lang="en-US" sz="1700" dirty="0">
              <a:solidFill>
                <a:srgbClr val="0C234B"/>
              </a:solidFill>
              <a:latin typeface="Arial" panose="020B0604020202020204" pitchFamily="34" charset="0"/>
              <a:ea typeface="+mj-ea"/>
              <a:cs typeface="Arial" panose="020B0604020202020204" pitchFamily="34" charset="0"/>
            </a:endParaRPr>
          </a:p>
          <a:p>
            <a:pPr>
              <a:lnSpc>
                <a:spcPct val="90000"/>
              </a:lnSpc>
            </a:pPr>
            <a:r>
              <a:rPr lang="en-US" sz="1700" dirty="0">
                <a:solidFill>
                  <a:srgbClr val="0C234B"/>
                </a:solidFill>
                <a:latin typeface="Arial" panose="020B0604020202020204" pitchFamily="34" charset="0"/>
                <a:ea typeface="+mj-ea"/>
                <a:cs typeface="Arial" panose="020B0604020202020204" pitchFamily="34" charset="0"/>
              </a:rPr>
              <a:t>Evaluate clustering stability using bootstrap methods</a:t>
            </a:r>
          </a:p>
          <a:p>
            <a:pPr>
              <a:lnSpc>
                <a:spcPct val="90000"/>
              </a:lnSpc>
            </a:pPr>
            <a:endParaRPr lang="en-US" sz="1700" dirty="0">
              <a:solidFill>
                <a:srgbClr val="0C234B"/>
              </a:solidFill>
              <a:latin typeface="Arial" panose="020B0604020202020204" pitchFamily="34" charset="0"/>
              <a:ea typeface="+mj-ea"/>
              <a:cs typeface="Arial" panose="020B0604020202020204" pitchFamily="34" charset="0"/>
            </a:endParaRPr>
          </a:p>
          <a:p>
            <a:pPr>
              <a:lnSpc>
                <a:spcPct val="90000"/>
              </a:lnSpc>
            </a:pPr>
            <a:r>
              <a:rPr lang="en-US" sz="1700" dirty="0">
                <a:solidFill>
                  <a:srgbClr val="0C234B"/>
                </a:solidFill>
                <a:latin typeface="Arial" panose="020B0604020202020204" pitchFamily="34" charset="0"/>
                <a:ea typeface="+mj-ea"/>
                <a:cs typeface="Arial" panose="020B0604020202020204" pitchFamily="34" charset="0"/>
              </a:rPr>
              <a:t>Apply to real-world healthcare data (BRFSS)</a:t>
            </a:r>
          </a:p>
          <a:p>
            <a:pPr>
              <a:lnSpc>
                <a:spcPct val="90000"/>
              </a:lnSpc>
            </a:pPr>
            <a:endParaRPr lang="en-US" sz="1700" dirty="0">
              <a:solidFill>
                <a:srgbClr val="0C234B"/>
              </a:solidFill>
              <a:latin typeface="Arial" panose="020B0604020202020204" pitchFamily="34" charset="0"/>
              <a:ea typeface="+mj-ea"/>
              <a:cs typeface="Arial" panose="020B0604020202020204" pitchFamily="34" charset="0"/>
            </a:endParaRPr>
          </a:p>
          <a:p>
            <a:pPr>
              <a:lnSpc>
                <a:spcPct val="90000"/>
              </a:lnSpc>
            </a:pPr>
            <a:r>
              <a:rPr lang="en-US" sz="1700" dirty="0">
                <a:solidFill>
                  <a:srgbClr val="0C234B"/>
                </a:solidFill>
                <a:latin typeface="Arial" panose="020B0604020202020204" pitchFamily="34" charset="0"/>
                <a:ea typeface="+mj-ea"/>
                <a:cs typeface="Arial" panose="020B0604020202020204" pitchFamily="34" charset="0"/>
              </a:rPr>
              <a:t>Establish guidance for metric selection in phenotyping </a:t>
            </a:r>
            <a:endParaRPr sz="1700" dirty="0">
              <a:solidFill>
                <a:srgbClr val="0C234B"/>
              </a:solidFill>
              <a:latin typeface="Arial" panose="020B0604020202020204" pitchFamily="34" charset="0"/>
              <a:ea typeface="+mj-ea"/>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a:t>
            </a:r>
            <a:endParaRPr dirty="0"/>
          </a:p>
        </p:txBody>
      </p:sp>
      <p:sp>
        <p:nvSpPr>
          <p:cNvPr id="4" name="Content Placeholder 3"/>
          <p:cNvSpPr>
            <a:spLocks noGrp="1"/>
          </p:cNvSpPr>
          <p:nvPr>
            <p:ph idx="1"/>
          </p:nvPr>
        </p:nvSpPr>
        <p:spPr>
          <a:xfrm>
            <a:off x="413105" y="867984"/>
            <a:ext cx="2860426" cy="3726241"/>
          </a:xfrm>
        </p:spPr>
        <p:txBody>
          <a:bodyPr>
            <a:normAutofit/>
          </a:bodyPr>
          <a:lstStyle/>
          <a:p>
            <a:pPr marL="0" indent="0">
              <a:lnSpc>
                <a:spcPct val="80000"/>
              </a:lnSpc>
              <a:buNone/>
            </a:pPr>
            <a:r>
              <a:rPr lang="en-US" b="1" dirty="0">
                <a:solidFill>
                  <a:srgbClr val="0C234B"/>
                </a:solidFill>
                <a:latin typeface="Arial" panose="020B0604020202020204" pitchFamily="34" charset="0"/>
                <a:ea typeface="+mj-ea"/>
                <a:cs typeface="Arial" panose="020B0604020202020204" pitchFamily="34" charset="0"/>
              </a:rPr>
              <a:t>Study Objective</a:t>
            </a:r>
          </a:p>
          <a:p>
            <a:pPr marL="0" indent="0">
              <a:lnSpc>
                <a:spcPct val="80000"/>
              </a:lnSpc>
              <a:buNone/>
            </a:pPr>
            <a:r>
              <a:rPr lang="en-US" sz="1300" dirty="0">
                <a:solidFill>
                  <a:srgbClr val="0C234B"/>
                </a:solidFill>
                <a:latin typeface="Arial" panose="020B0604020202020204" pitchFamily="34" charset="0"/>
                <a:ea typeface="+mj-ea"/>
                <a:cs typeface="Arial" panose="020B0604020202020204" pitchFamily="34" charset="0"/>
              </a:rPr>
              <a:t>The objective of this study is to evaluate how distance metric selection influences clustering stability in EHR-derived datasets using a bootstrap-framework and the Adjusted Rand Index (ARI).</a:t>
            </a:r>
          </a:p>
          <a:p>
            <a:pPr>
              <a:lnSpc>
                <a:spcPct val="80000"/>
              </a:lnSpc>
            </a:pPr>
            <a:endParaRPr lang="en-US" sz="1700" dirty="0">
              <a:solidFill>
                <a:srgbClr val="0C234B"/>
              </a:solidFill>
              <a:latin typeface="Arial" panose="020B0604020202020204" pitchFamily="34" charset="0"/>
              <a:ea typeface="+mj-ea"/>
              <a:cs typeface="Arial" panose="020B0604020202020204" pitchFamily="34" charset="0"/>
            </a:endParaRPr>
          </a:p>
          <a:p>
            <a:pPr>
              <a:lnSpc>
                <a:spcPct val="90000"/>
              </a:lnSpc>
            </a:pPr>
            <a:r>
              <a:rPr lang="en-US" b="1" dirty="0">
                <a:solidFill>
                  <a:srgbClr val="0C234B"/>
                </a:solidFill>
                <a:latin typeface="Arial" panose="020B0604020202020204" pitchFamily="34" charset="0"/>
                <a:ea typeface="+mj-ea"/>
                <a:cs typeface="Arial" panose="020B0604020202020204" pitchFamily="34" charset="0"/>
              </a:rPr>
              <a:t>Hypotheses</a:t>
            </a:r>
          </a:p>
          <a:p>
            <a:pPr>
              <a:lnSpc>
                <a:spcPct val="80000"/>
              </a:lnSpc>
            </a:pPr>
            <a:r>
              <a:rPr lang="en-US" sz="1200" dirty="0">
                <a:solidFill>
                  <a:srgbClr val="0C234B"/>
                </a:solidFill>
                <a:latin typeface="Arial" panose="020B0604020202020204" pitchFamily="34" charset="0"/>
                <a:ea typeface="+mj-ea"/>
                <a:cs typeface="Arial" panose="020B0604020202020204" pitchFamily="34" charset="0"/>
              </a:rPr>
              <a:t>H0: There is no difference in clustering stability (as measured by ARI) across distance metrics</a:t>
            </a:r>
          </a:p>
          <a:p>
            <a:pPr>
              <a:lnSpc>
                <a:spcPct val="80000"/>
              </a:lnSpc>
            </a:pPr>
            <a:endParaRPr lang="en-US" sz="1200" dirty="0">
              <a:solidFill>
                <a:srgbClr val="0C234B"/>
              </a:solidFill>
              <a:latin typeface="Arial" panose="020B0604020202020204" pitchFamily="34" charset="0"/>
              <a:ea typeface="+mj-ea"/>
              <a:cs typeface="Arial" panose="020B0604020202020204" pitchFamily="34" charset="0"/>
            </a:endParaRPr>
          </a:p>
          <a:p>
            <a:pPr>
              <a:lnSpc>
                <a:spcPct val="80000"/>
              </a:lnSpc>
            </a:pPr>
            <a:r>
              <a:rPr lang="en-US" sz="1200" dirty="0">
                <a:solidFill>
                  <a:srgbClr val="0C234B"/>
                </a:solidFill>
                <a:latin typeface="Arial" panose="020B0604020202020204" pitchFamily="34" charset="0"/>
                <a:ea typeface="+mj-ea"/>
                <a:cs typeface="Arial" panose="020B0604020202020204" pitchFamily="34" charset="0"/>
              </a:rPr>
              <a:t>H1: Clustering stability differs significantly across distance metrics</a:t>
            </a:r>
          </a:p>
          <a:p>
            <a:pPr marL="0" indent="0">
              <a:buNone/>
            </a:pPr>
            <a:endParaRPr lang="en-US" dirty="0"/>
          </a:p>
          <a:p>
            <a:pPr marL="0" indent="0">
              <a:buNone/>
            </a:pPr>
            <a:endParaRPr lang="en-US" dirty="0"/>
          </a:p>
          <a:p>
            <a:pPr marL="0" indent="0">
              <a:buNone/>
            </a:pPr>
            <a:endParaRPr dirty="0"/>
          </a:p>
        </p:txBody>
      </p:sp>
      <p:sp>
        <p:nvSpPr>
          <p:cNvPr id="11" name="Content Placeholder 10">
            <a:extLst>
              <a:ext uri="{FF2B5EF4-FFF2-40B4-BE49-F238E27FC236}">
                <a16:creationId xmlns:a16="http://schemas.microsoft.com/office/drawing/2014/main" id="{CC9405F2-46B9-1516-C3ED-BB1464A41273}"/>
              </a:ext>
            </a:extLst>
          </p:cNvPr>
          <p:cNvSpPr>
            <a:spLocks noGrp="1"/>
          </p:cNvSpPr>
          <p:nvPr>
            <p:ph idx="13"/>
          </p:nvPr>
        </p:nvSpPr>
        <p:spPr>
          <a:xfrm>
            <a:off x="3420084" y="849417"/>
            <a:ext cx="2532998" cy="3977872"/>
          </a:xfrm>
        </p:spPr>
        <p:txBody>
          <a:bodyPr>
            <a:normAutofit lnSpcReduction="10000"/>
          </a:bodyPr>
          <a:lstStyle/>
          <a:p>
            <a:pPr>
              <a:lnSpc>
                <a:spcPct val="90000"/>
              </a:lnSpc>
            </a:pPr>
            <a:r>
              <a:rPr lang="en-US" b="1" dirty="0">
                <a:solidFill>
                  <a:srgbClr val="0C234B"/>
                </a:solidFill>
                <a:latin typeface="Arial" panose="020B0604020202020204" pitchFamily="34" charset="0"/>
                <a:ea typeface="+mj-ea"/>
                <a:cs typeface="Arial" panose="020B0604020202020204" pitchFamily="34" charset="0"/>
              </a:rPr>
              <a:t>Study Design</a:t>
            </a:r>
          </a:p>
          <a:p>
            <a:pPr marL="257175" indent="-257175">
              <a:lnSpc>
                <a:spcPct val="80000"/>
              </a:lnSpc>
              <a:buClr>
                <a:srgbClr val="BE0B34"/>
              </a:buClr>
              <a:buFont typeface="Arial"/>
              <a:buChar char="•"/>
            </a:pPr>
            <a:r>
              <a:rPr lang="en-US" sz="1200" dirty="0">
                <a:solidFill>
                  <a:srgbClr val="0C234B"/>
                </a:solidFill>
                <a:latin typeface="Arial" panose="020B0604020202020204" pitchFamily="34" charset="0"/>
                <a:ea typeface="+mj-ea"/>
                <a:cs typeface="Arial" panose="020B0604020202020204" pitchFamily="34" charset="0"/>
              </a:rPr>
              <a:t>K-medoids clustering algorithm (k=3, 4, 5)</a:t>
            </a:r>
          </a:p>
          <a:p>
            <a:pPr marL="257175" indent="-257175">
              <a:lnSpc>
                <a:spcPct val="80000"/>
              </a:lnSpc>
              <a:buClr>
                <a:srgbClr val="BE0B34"/>
              </a:buClr>
              <a:buFont typeface="Arial"/>
              <a:buChar char="•"/>
            </a:pPr>
            <a:r>
              <a:rPr lang="en-US" sz="1200" dirty="0">
                <a:solidFill>
                  <a:srgbClr val="0C234B"/>
                </a:solidFill>
                <a:latin typeface="Arial" panose="020B0604020202020204" pitchFamily="34" charset="0"/>
                <a:ea typeface="+mj-ea"/>
                <a:cs typeface="Arial" panose="020B0604020202020204" pitchFamily="34" charset="0"/>
              </a:rPr>
              <a:t>Distance Metrics:</a:t>
            </a:r>
          </a:p>
          <a:p>
            <a:pPr marL="257175" indent="-257175">
              <a:lnSpc>
                <a:spcPct val="80000"/>
              </a:lnSpc>
            </a:pPr>
            <a:r>
              <a:rPr lang="en-US" sz="1200" dirty="0">
                <a:solidFill>
                  <a:srgbClr val="0C234B"/>
                </a:solidFill>
                <a:latin typeface="Arial" panose="020B0604020202020204" pitchFamily="34" charset="0"/>
                <a:ea typeface="+mj-ea"/>
                <a:cs typeface="Arial" panose="020B0604020202020204" pitchFamily="34" charset="0"/>
              </a:rPr>
              <a:t>	    Euclidean, Manhattan,</a:t>
            </a:r>
          </a:p>
          <a:p>
            <a:pPr marL="257175" indent="-257175">
              <a:lnSpc>
                <a:spcPct val="80000"/>
              </a:lnSpc>
            </a:pPr>
            <a:r>
              <a:rPr lang="en-US" sz="1200" dirty="0">
                <a:solidFill>
                  <a:srgbClr val="0C234B"/>
                </a:solidFill>
                <a:latin typeface="Arial" panose="020B0604020202020204" pitchFamily="34" charset="0"/>
                <a:ea typeface="+mj-ea"/>
                <a:cs typeface="Arial" panose="020B0604020202020204" pitchFamily="34" charset="0"/>
              </a:rPr>
              <a:t>          Cosine, Jaccard</a:t>
            </a:r>
          </a:p>
          <a:p>
            <a:pPr marL="257175" indent="-257175">
              <a:lnSpc>
                <a:spcPct val="80000"/>
              </a:lnSpc>
            </a:pPr>
            <a:endParaRPr lang="en-US" sz="1200" dirty="0">
              <a:solidFill>
                <a:srgbClr val="0C234B"/>
              </a:solidFill>
              <a:latin typeface="Arial" panose="020B0604020202020204" pitchFamily="34" charset="0"/>
              <a:ea typeface="+mj-ea"/>
              <a:cs typeface="Arial" panose="020B0604020202020204" pitchFamily="34" charset="0"/>
            </a:endParaRPr>
          </a:p>
          <a:p>
            <a:pPr>
              <a:lnSpc>
                <a:spcPct val="90000"/>
              </a:lnSpc>
            </a:pPr>
            <a:r>
              <a:rPr lang="en-US" b="1" dirty="0">
                <a:solidFill>
                  <a:srgbClr val="0C234B"/>
                </a:solidFill>
                <a:latin typeface="Arial" panose="020B0604020202020204" pitchFamily="34" charset="0"/>
                <a:ea typeface="+mj-ea"/>
                <a:cs typeface="Arial" panose="020B0604020202020204" pitchFamily="34" charset="0"/>
              </a:rPr>
              <a:t>Evaluation</a:t>
            </a:r>
          </a:p>
          <a:p>
            <a:pPr marL="257175" indent="-257175">
              <a:lnSpc>
                <a:spcPct val="80000"/>
              </a:lnSpc>
              <a:buClr>
                <a:srgbClr val="BE0B34"/>
              </a:buClr>
              <a:buFont typeface="Arial"/>
              <a:buChar char="•"/>
            </a:pPr>
            <a:r>
              <a:rPr lang="en-US" sz="1200" dirty="0">
                <a:solidFill>
                  <a:srgbClr val="0C234B"/>
                </a:solidFill>
                <a:latin typeface="Arial" panose="020B0604020202020204" pitchFamily="34" charset="0"/>
                <a:ea typeface="+mj-ea"/>
                <a:cs typeface="Arial" panose="020B0604020202020204" pitchFamily="34" charset="0"/>
              </a:rPr>
              <a:t>Bootstrap resampling (n=100 per condition)</a:t>
            </a:r>
          </a:p>
          <a:p>
            <a:pPr marL="257175" indent="-257175">
              <a:lnSpc>
                <a:spcPct val="80000"/>
              </a:lnSpc>
              <a:buClr>
                <a:srgbClr val="BE0B34"/>
              </a:buClr>
              <a:buFont typeface="Arial"/>
              <a:buChar char="•"/>
            </a:pPr>
            <a:r>
              <a:rPr lang="en-US" sz="1200" dirty="0">
                <a:solidFill>
                  <a:srgbClr val="0C234B"/>
                </a:solidFill>
                <a:latin typeface="Arial" panose="020B0604020202020204" pitchFamily="34" charset="0"/>
                <a:ea typeface="+mj-ea"/>
                <a:cs typeface="Arial" panose="020B0604020202020204" pitchFamily="34" charset="0"/>
              </a:rPr>
              <a:t>Stability quantified using ARI</a:t>
            </a:r>
          </a:p>
          <a:p>
            <a:pPr marL="257175" indent="-257175">
              <a:lnSpc>
                <a:spcPct val="80000"/>
              </a:lnSpc>
              <a:buClr>
                <a:srgbClr val="BE0B34"/>
              </a:buClr>
              <a:buFont typeface="Arial"/>
              <a:buChar char="•"/>
            </a:pPr>
            <a:endParaRPr lang="en-US" sz="1200" dirty="0">
              <a:solidFill>
                <a:srgbClr val="0C234B"/>
              </a:solidFill>
              <a:latin typeface="Arial" panose="020B0604020202020204" pitchFamily="34" charset="0"/>
              <a:ea typeface="+mj-ea"/>
              <a:cs typeface="Arial" panose="020B0604020202020204" pitchFamily="34" charset="0"/>
            </a:endParaRPr>
          </a:p>
          <a:p>
            <a:pPr>
              <a:lnSpc>
                <a:spcPct val="90000"/>
              </a:lnSpc>
            </a:pPr>
            <a:r>
              <a:rPr lang="en-US" b="1" dirty="0">
                <a:solidFill>
                  <a:srgbClr val="0C234B"/>
                </a:solidFill>
                <a:latin typeface="Arial" panose="020B0604020202020204" pitchFamily="34" charset="0"/>
                <a:ea typeface="+mj-ea"/>
                <a:cs typeface="Arial" panose="020B0604020202020204" pitchFamily="34" charset="0"/>
              </a:rPr>
              <a:t>Statistical Testing</a:t>
            </a:r>
          </a:p>
          <a:p>
            <a:pPr marL="257175" indent="-257175">
              <a:lnSpc>
                <a:spcPct val="90000"/>
              </a:lnSpc>
              <a:buClr>
                <a:srgbClr val="BE0B34"/>
              </a:buClr>
              <a:buFont typeface="Arial"/>
              <a:buChar char="•"/>
            </a:pPr>
            <a:r>
              <a:rPr lang="en-US" sz="1200" dirty="0">
                <a:solidFill>
                  <a:srgbClr val="0C234B"/>
                </a:solidFill>
                <a:latin typeface="Arial" panose="020B0604020202020204" pitchFamily="34" charset="0"/>
                <a:ea typeface="+mj-ea"/>
                <a:cs typeface="Arial" panose="020B0604020202020204" pitchFamily="34" charset="0"/>
              </a:rPr>
              <a:t>Kruskal-Wallis (primary test)</a:t>
            </a:r>
          </a:p>
          <a:p>
            <a:pPr marL="257175" indent="-257175">
              <a:lnSpc>
                <a:spcPct val="90000"/>
              </a:lnSpc>
              <a:buClr>
                <a:srgbClr val="BE0B34"/>
              </a:buClr>
              <a:buFont typeface="Arial"/>
              <a:buChar char="•"/>
            </a:pPr>
            <a:r>
              <a:rPr lang="en-US" sz="1200" dirty="0">
                <a:solidFill>
                  <a:srgbClr val="0C234B"/>
                </a:solidFill>
                <a:latin typeface="Arial" panose="020B0604020202020204" pitchFamily="34" charset="0"/>
                <a:ea typeface="+mj-ea"/>
                <a:cs typeface="Arial" panose="020B0604020202020204" pitchFamily="34" charset="0"/>
              </a:rPr>
              <a:t>One-way ANOVA (confirmation)</a:t>
            </a:r>
          </a:p>
          <a:p>
            <a:pPr marL="257175" indent="-257175">
              <a:lnSpc>
                <a:spcPct val="90000"/>
              </a:lnSpc>
              <a:buClr>
                <a:srgbClr val="BE0B34"/>
              </a:buClr>
              <a:buFont typeface="Arial"/>
              <a:buChar char="•"/>
            </a:pPr>
            <a:r>
              <a:rPr lang="en-US" sz="1200" dirty="0">
                <a:solidFill>
                  <a:srgbClr val="0C234B"/>
                </a:solidFill>
                <a:latin typeface="Arial" panose="020B0604020202020204" pitchFamily="34" charset="0"/>
                <a:ea typeface="+mj-ea"/>
                <a:cs typeface="Arial" panose="020B0604020202020204" pitchFamily="34" charset="0"/>
              </a:rPr>
              <a:t>Mann-Whitney U with Holm correction (pairwise)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67221A8-CE3B-EDFD-2301-15B86BDD128C}"/>
              </a:ext>
            </a:extLst>
          </p:cNvPr>
          <p:cNvSpPr>
            <a:spLocks noGrp="1"/>
          </p:cNvSpPr>
          <p:nvPr>
            <p:ph type="sldNum" sz="quarter" idx="12"/>
          </p:nvPr>
        </p:nvSpPr>
        <p:spPr/>
        <p:txBody>
          <a:bodyPr/>
          <a:lstStyle/>
          <a:p>
            <a:fld id="{23131D21-4A4F-034C-896A-AD009F94F6BB}" type="slidenum">
              <a:rPr lang="en-US" smtClean="0"/>
              <a:t>6</a:t>
            </a:fld>
            <a:endParaRPr lang="en-US"/>
          </a:p>
        </p:txBody>
      </p:sp>
      <p:sp>
        <p:nvSpPr>
          <p:cNvPr id="3" name="Title 2">
            <a:extLst>
              <a:ext uri="{FF2B5EF4-FFF2-40B4-BE49-F238E27FC236}">
                <a16:creationId xmlns:a16="http://schemas.microsoft.com/office/drawing/2014/main" id="{69B0FE37-B2AA-6102-32BD-7215FBC75300}"/>
              </a:ext>
            </a:extLst>
          </p:cNvPr>
          <p:cNvSpPr>
            <a:spLocks noGrp="1"/>
          </p:cNvSpPr>
          <p:nvPr>
            <p:ph type="title"/>
          </p:nvPr>
        </p:nvSpPr>
        <p:spPr/>
        <p:txBody>
          <a:bodyPr/>
          <a:lstStyle/>
          <a:p>
            <a:r>
              <a:rPr lang="en-US" dirty="0"/>
              <a:t>Data Source: Behavioral Risk Factor Surveillance System (BRFSS)</a:t>
            </a:r>
          </a:p>
        </p:txBody>
      </p:sp>
      <p:sp>
        <p:nvSpPr>
          <p:cNvPr id="4" name="Content Placeholder 3">
            <a:extLst>
              <a:ext uri="{FF2B5EF4-FFF2-40B4-BE49-F238E27FC236}">
                <a16:creationId xmlns:a16="http://schemas.microsoft.com/office/drawing/2014/main" id="{3E649C99-4CF7-85E9-5206-D4DDEE6C2ABE}"/>
              </a:ext>
            </a:extLst>
          </p:cNvPr>
          <p:cNvSpPr>
            <a:spLocks noGrp="1"/>
          </p:cNvSpPr>
          <p:nvPr>
            <p:ph idx="1"/>
          </p:nvPr>
        </p:nvSpPr>
        <p:spPr>
          <a:xfrm>
            <a:off x="574082" y="1011874"/>
            <a:ext cx="2699448" cy="3673844"/>
          </a:xfrm>
        </p:spPr>
        <p:txBody>
          <a:bodyPr>
            <a:normAutofit/>
          </a:bodyPr>
          <a:lstStyle/>
          <a:p>
            <a:pPr marL="0" indent="0" defTabSz="685800">
              <a:lnSpc>
                <a:spcPct val="90000"/>
              </a:lnSpc>
              <a:buClrTx/>
              <a:buNone/>
            </a:pPr>
            <a:r>
              <a:rPr lang="en-US" sz="1600" b="1" dirty="0">
                <a:solidFill>
                  <a:srgbClr val="0C234B"/>
                </a:solidFill>
                <a:latin typeface="Arial" panose="020B0604020202020204" pitchFamily="34" charset="0"/>
                <a:ea typeface="+mj-ea"/>
                <a:cs typeface="Arial" panose="020B0604020202020204" pitchFamily="34" charset="0"/>
              </a:rPr>
              <a:t>Dataset</a:t>
            </a:r>
          </a:p>
          <a:p>
            <a:pPr defTabSz="685800">
              <a:lnSpc>
                <a:spcPct val="90000"/>
              </a:lnSpc>
            </a:pPr>
            <a:r>
              <a:rPr lang="en-US" sz="1200" dirty="0">
                <a:solidFill>
                  <a:srgbClr val="0C234B"/>
                </a:solidFill>
                <a:latin typeface="Arial" panose="020B0604020202020204" pitchFamily="34" charset="0"/>
                <a:ea typeface="+mj-ea"/>
                <a:cs typeface="Arial" panose="020B0604020202020204" pitchFamily="34" charset="0"/>
              </a:rPr>
              <a:t>2024 Behavioral Risk Factor Surveillance System (BRFSS)</a:t>
            </a:r>
          </a:p>
          <a:p>
            <a:pPr defTabSz="685800">
              <a:lnSpc>
                <a:spcPct val="90000"/>
              </a:lnSpc>
            </a:pPr>
            <a:r>
              <a:rPr lang="en-US" sz="1200" dirty="0"/>
              <a:t>National survey conducted across all U.S. states and territories, coordinated by the CDC</a:t>
            </a:r>
          </a:p>
          <a:p>
            <a:pPr defTabSz="685800">
              <a:lnSpc>
                <a:spcPct val="90000"/>
              </a:lnSpc>
            </a:pPr>
            <a:r>
              <a:rPr lang="en-US" sz="1200" dirty="0">
                <a:solidFill>
                  <a:srgbClr val="0C234B"/>
                </a:solidFill>
                <a:latin typeface="Arial" panose="020B0604020202020204" pitchFamily="34" charset="0"/>
                <a:ea typeface="+mj-ea"/>
                <a:cs typeface="Arial" panose="020B0604020202020204" pitchFamily="34" charset="0"/>
              </a:rPr>
              <a:t>~450,000 + U.S. adults (2024)</a:t>
            </a:r>
          </a:p>
          <a:p>
            <a:pPr marL="0" indent="0" defTabSz="685800">
              <a:lnSpc>
                <a:spcPct val="90000"/>
              </a:lnSpc>
              <a:buClrTx/>
              <a:buNone/>
            </a:pPr>
            <a:r>
              <a:rPr lang="en-US" sz="1600" b="1" dirty="0">
                <a:solidFill>
                  <a:srgbClr val="0C234B"/>
                </a:solidFill>
                <a:latin typeface="Arial" panose="020B0604020202020204" pitchFamily="34" charset="0"/>
                <a:ea typeface="+mj-ea"/>
                <a:cs typeface="Arial" panose="020B0604020202020204" pitchFamily="34" charset="0"/>
              </a:rPr>
              <a:t>Content:</a:t>
            </a:r>
          </a:p>
          <a:p>
            <a:pPr defTabSz="685800">
              <a:lnSpc>
                <a:spcPct val="90000"/>
              </a:lnSpc>
            </a:pPr>
            <a:r>
              <a:rPr lang="en-US" sz="1200" dirty="0">
                <a:solidFill>
                  <a:srgbClr val="0C234B"/>
                </a:solidFill>
                <a:latin typeface="Arial" panose="020B0604020202020204" pitchFamily="34" charset="0"/>
                <a:ea typeface="+mj-ea"/>
                <a:cs typeface="Arial" panose="020B0604020202020204" pitchFamily="34" charset="0"/>
              </a:rPr>
              <a:t>Health status</a:t>
            </a:r>
          </a:p>
          <a:p>
            <a:pPr defTabSz="685800">
              <a:lnSpc>
                <a:spcPct val="90000"/>
              </a:lnSpc>
            </a:pPr>
            <a:r>
              <a:rPr lang="en-US" sz="1200" dirty="0">
                <a:solidFill>
                  <a:srgbClr val="0C234B"/>
                </a:solidFill>
                <a:latin typeface="Arial" panose="020B0604020202020204" pitchFamily="34" charset="0"/>
                <a:ea typeface="+mj-ea"/>
                <a:cs typeface="Arial" panose="020B0604020202020204" pitchFamily="34" charset="0"/>
              </a:rPr>
              <a:t>Chronic conditions</a:t>
            </a:r>
          </a:p>
          <a:p>
            <a:pPr defTabSz="685800">
              <a:lnSpc>
                <a:spcPct val="90000"/>
              </a:lnSpc>
            </a:pPr>
            <a:r>
              <a:rPr lang="en-US" sz="1200" dirty="0">
                <a:solidFill>
                  <a:srgbClr val="0C234B"/>
                </a:solidFill>
                <a:latin typeface="Arial" panose="020B0604020202020204" pitchFamily="34" charset="0"/>
                <a:ea typeface="+mj-ea"/>
                <a:cs typeface="Arial" panose="020B0604020202020204" pitchFamily="34" charset="0"/>
              </a:rPr>
              <a:t>Health behaviors</a:t>
            </a:r>
          </a:p>
          <a:p>
            <a:pPr defTabSz="685800">
              <a:lnSpc>
                <a:spcPct val="90000"/>
              </a:lnSpc>
            </a:pPr>
            <a:r>
              <a:rPr lang="en-US" sz="1200" dirty="0">
                <a:solidFill>
                  <a:srgbClr val="0C234B"/>
                </a:solidFill>
                <a:latin typeface="Arial" panose="020B0604020202020204" pitchFamily="34" charset="0"/>
                <a:ea typeface="+mj-ea"/>
                <a:cs typeface="Arial" panose="020B0604020202020204" pitchFamily="34" charset="0"/>
              </a:rPr>
              <a:t>Healthcare access</a:t>
            </a:r>
          </a:p>
        </p:txBody>
      </p:sp>
      <p:sp>
        <p:nvSpPr>
          <p:cNvPr id="5" name="Content Placeholder 4">
            <a:extLst>
              <a:ext uri="{FF2B5EF4-FFF2-40B4-BE49-F238E27FC236}">
                <a16:creationId xmlns:a16="http://schemas.microsoft.com/office/drawing/2014/main" id="{91702325-83CC-7363-20C4-0DE9922821A5}"/>
              </a:ext>
            </a:extLst>
          </p:cNvPr>
          <p:cNvSpPr>
            <a:spLocks noGrp="1"/>
          </p:cNvSpPr>
          <p:nvPr>
            <p:ph idx="13"/>
          </p:nvPr>
        </p:nvSpPr>
        <p:spPr>
          <a:xfrm>
            <a:off x="3542453" y="1011874"/>
            <a:ext cx="2699448" cy="3673844"/>
          </a:xfrm>
        </p:spPr>
        <p:txBody>
          <a:bodyPr>
            <a:normAutofit fontScale="70000" lnSpcReduction="20000"/>
          </a:bodyPr>
          <a:lstStyle/>
          <a:p>
            <a:pPr marL="0" indent="0" defTabSz="685800">
              <a:lnSpc>
                <a:spcPct val="110000"/>
              </a:lnSpc>
              <a:buClrTx/>
              <a:buNone/>
            </a:pPr>
            <a:r>
              <a:rPr lang="en-US" sz="2100" b="1" dirty="0">
                <a:solidFill>
                  <a:srgbClr val="0C234B"/>
                </a:solidFill>
                <a:latin typeface="Arial" panose="020B0604020202020204" pitchFamily="34" charset="0"/>
                <a:ea typeface="+mj-ea"/>
                <a:cs typeface="Arial" panose="020B0604020202020204" pitchFamily="34" charset="0"/>
              </a:rPr>
              <a:t>Sampling Design</a:t>
            </a:r>
          </a:p>
          <a:p>
            <a:r>
              <a:rPr lang="en-US" dirty="0"/>
              <a:t>Stratified random sampling</a:t>
            </a:r>
          </a:p>
          <a:p>
            <a:r>
              <a:rPr lang="en-US" dirty="0"/>
              <a:t>Landline + mobile respondents</a:t>
            </a:r>
          </a:p>
          <a:p>
            <a:r>
              <a:rPr lang="en-US" dirty="0"/>
              <a:t>Population weights available</a:t>
            </a:r>
          </a:p>
          <a:p>
            <a:pPr marL="0" indent="0">
              <a:buNone/>
            </a:pPr>
            <a:endParaRPr lang="en-US" dirty="0"/>
          </a:p>
          <a:p>
            <a:pPr marL="0" indent="0" defTabSz="685800">
              <a:lnSpc>
                <a:spcPct val="110000"/>
              </a:lnSpc>
              <a:buClrTx/>
              <a:buNone/>
            </a:pPr>
            <a:r>
              <a:rPr lang="en-US" sz="2100" b="1" dirty="0">
                <a:solidFill>
                  <a:srgbClr val="0C234B"/>
                </a:solidFill>
                <a:latin typeface="Arial" panose="020B0604020202020204" pitchFamily="34" charset="0"/>
                <a:ea typeface="+mj-ea"/>
                <a:cs typeface="Arial" panose="020B0604020202020204" pitchFamily="34" charset="0"/>
              </a:rPr>
              <a:t>Analytic Design</a:t>
            </a:r>
          </a:p>
          <a:p>
            <a:pPr defTabSz="685800">
              <a:lnSpc>
                <a:spcPct val="110000"/>
              </a:lnSpc>
            </a:pPr>
            <a:r>
              <a:rPr lang="en-US" dirty="0">
                <a:solidFill>
                  <a:srgbClr val="0C234B"/>
                </a:solidFill>
                <a:latin typeface="Arial" panose="020B0604020202020204" pitchFamily="34" charset="0"/>
                <a:ea typeface="+mj-ea"/>
                <a:cs typeface="Arial" panose="020B0604020202020204" pitchFamily="34" charset="0"/>
              </a:rPr>
              <a:t>Analyses conducted on unweighted data</a:t>
            </a:r>
          </a:p>
          <a:p>
            <a:pPr defTabSz="685800">
              <a:lnSpc>
                <a:spcPct val="110000"/>
              </a:lnSpc>
            </a:pPr>
            <a:r>
              <a:rPr lang="en-US" dirty="0">
                <a:solidFill>
                  <a:srgbClr val="0C234B"/>
                </a:solidFill>
                <a:latin typeface="Arial" panose="020B0604020202020204" pitchFamily="34" charset="0"/>
                <a:ea typeface="+mj-ea"/>
                <a:cs typeface="Arial" panose="020B0604020202020204" pitchFamily="34" charset="0"/>
              </a:rPr>
              <a:t>Focus on methodological evaluation, not population inference</a:t>
            </a:r>
          </a:p>
          <a:p>
            <a:pPr marL="0" indent="0" defTabSz="685800">
              <a:lnSpc>
                <a:spcPct val="110000"/>
              </a:lnSpc>
              <a:buNone/>
            </a:pPr>
            <a:endParaRPr lang="en-US" dirty="0">
              <a:solidFill>
                <a:srgbClr val="0C234B"/>
              </a:solidFill>
              <a:latin typeface="Arial" panose="020B0604020202020204" pitchFamily="34" charset="0"/>
              <a:ea typeface="+mj-ea"/>
              <a:cs typeface="Arial" panose="020B0604020202020204" pitchFamily="34" charset="0"/>
            </a:endParaRPr>
          </a:p>
          <a:p>
            <a:pPr marL="0" indent="0" defTabSz="685800">
              <a:lnSpc>
                <a:spcPct val="110000"/>
              </a:lnSpc>
              <a:buClrTx/>
              <a:buNone/>
            </a:pPr>
            <a:r>
              <a:rPr lang="en-US" sz="2100" b="1" dirty="0">
                <a:solidFill>
                  <a:srgbClr val="0C234B"/>
                </a:solidFill>
                <a:latin typeface="Arial" panose="020B0604020202020204" pitchFamily="34" charset="0"/>
                <a:ea typeface="+mj-ea"/>
                <a:cs typeface="Arial" panose="020B0604020202020204" pitchFamily="34" charset="0"/>
              </a:rPr>
              <a:t>Rationale</a:t>
            </a:r>
          </a:p>
          <a:p>
            <a:pPr defTabSz="685800">
              <a:lnSpc>
                <a:spcPct val="110000"/>
              </a:lnSpc>
            </a:pPr>
            <a:r>
              <a:rPr lang="en-US" sz="1600" dirty="0">
                <a:solidFill>
                  <a:srgbClr val="0C234B"/>
                </a:solidFill>
                <a:latin typeface="Arial" panose="020B0604020202020204" pitchFamily="34" charset="0"/>
                <a:ea typeface="+mj-ea"/>
                <a:cs typeface="Arial" panose="020B0604020202020204" pitchFamily="34" charset="0"/>
              </a:rPr>
              <a:t>Weighting may distort distance relationships between observations</a:t>
            </a:r>
          </a:p>
          <a:p>
            <a:pPr defTabSz="685800">
              <a:lnSpc>
                <a:spcPct val="110000"/>
              </a:lnSpc>
            </a:pPr>
            <a:r>
              <a:rPr lang="en-US" dirty="0">
                <a:solidFill>
                  <a:srgbClr val="0C234B"/>
                </a:solidFill>
                <a:latin typeface="Arial" panose="020B0604020202020204" pitchFamily="34" charset="0"/>
                <a:ea typeface="+mj-ea"/>
                <a:cs typeface="Arial" panose="020B0604020202020204" pitchFamily="34" charset="0"/>
              </a:rPr>
              <a:t>Unweighted data preserves intrinsic feature space structure.</a:t>
            </a:r>
          </a:p>
        </p:txBody>
      </p:sp>
    </p:spTree>
    <p:extLst>
      <p:ext uri="{BB962C8B-B14F-4D97-AF65-F5344CB8AC3E}">
        <p14:creationId xmlns:p14="http://schemas.microsoft.com/office/powerpoint/2010/main" val="23750967"/>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4AE93A-2354-6998-EBEF-F75E73A84D09}"/>
              </a:ext>
            </a:extLst>
          </p:cNvPr>
          <p:cNvSpPr>
            <a:spLocks noGrp="1"/>
          </p:cNvSpPr>
          <p:nvPr>
            <p:ph type="sldNum" sz="quarter" idx="12"/>
          </p:nvPr>
        </p:nvSpPr>
        <p:spPr/>
        <p:txBody>
          <a:bodyPr/>
          <a:lstStyle/>
          <a:p>
            <a:fld id="{23131D21-4A4F-034C-896A-AD009F94F6BB}" type="slidenum">
              <a:rPr lang="en-US" smtClean="0"/>
              <a:t>7</a:t>
            </a:fld>
            <a:endParaRPr lang="en-US"/>
          </a:p>
        </p:txBody>
      </p:sp>
      <p:sp>
        <p:nvSpPr>
          <p:cNvPr id="3" name="Title 2">
            <a:extLst>
              <a:ext uri="{FF2B5EF4-FFF2-40B4-BE49-F238E27FC236}">
                <a16:creationId xmlns:a16="http://schemas.microsoft.com/office/drawing/2014/main" id="{7915A8E4-C0FE-216F-B347-BB1DF559202F}"/>
              </a:ext>
            </a:extLst>
          </p:cNvPr>
          <p:cNvSpPr>
            <a:spLocks noGrp="1"/>
          </p:cNvSpPr>
          <p:nvPr>
            <p:ph type="title"/>
          </p:nvPr>
        </p:nvSpPr>
        <p:spPr/>
        <p:txBody>
          <a:bodyPr/>
          <a:lstStyle/>
          <a:p>
            <a:r>
              <a:rPr lang="en-US" dirty="0"/>
              <a:t>Data Processing &amp; Sample Reduction</a:t>
            </a:r>
          </a:p>
        </p:txBody>
      </p:sp>
      <p:sp>
        <p:nvSpPr>
          <p:cNvPr id="4" name="Content Placeholder 3">
            <a:extLst>
              <a:ext uri="{FF2B5EF4-FFF2-40B4-BE49-F238E27FC236}">
                <a16:creationId xmlns:a16="http://schemas.microsoft.com/office/drawing/2014/main" id="{9E4EE8FE-E4E3-75A5-0C96-366704D1C6A6}"/>
              </a:ext>
            </a:extLst>
          </p:cNvPr>
          <p:cNvSpPr>
            <a:spLocks noGrp="1"/>
          </p:cNvSpPr>
          <p:nvPr>
            <p:ph idx="1"/>
          </p:nvPr>
        </p:nvSpPr>
        <p:spPr>
          <a:xfrm>
            <a:off x="564295" y="900475"/>
            <a:ext cx="2532998" cy="3693750"/>
          </a:xfrm>
        </p:spPr>
        <p:txBody>
          <a:bodyPr>
            <a:normAutofit fontScale="92500"/>
          </a:bodyPr>
          <a:lstStyle/>
          <a:p>
            <a:pPr>
              <a:lnSpc>
                <a:spcPct val="110000"/>
              </a:lnSpc>
            </a:pPr>
            <a:r>
              <a:rPr lang="en-US" sz="1700" b="1" dirty="0">
                <a:solidFill>
                  <a:srgbClr val="0C234B"/>
                </a:solidFill>
                <a:latin typeface="Arial" panose="020B0604020202020204" pitchFamily="34" charset="0"/>
                <a:ea typeface="+mj-ea"/>
                <a:cs typeface="Arial" panose="020B0604020202020204" pitchFamily="34" charset="0"/>
              </a:rPr>
              <a:t>Data Processing Pipeline</a:t>
            </a:r>
          </a:p>
          <a:p>
            <a:pPr marL="257175" indent="-257175">
              <a:buClr>
                <a:srgbClr val="BE0B34"/>
              </a:buClr>
              <a:buFont typeface="Arial"/>
              <a:buChar char="•"/>
            </a:pPr>
            <a:r>
              <a:rPr lang="en-US" sz="1400" dirty="0">
                <a:solidFill>
                  <a:srgbClr val="0C234B"/>
                </a:solidFill>
                <a:latin typeface="Arial" panose="020B0604020202020204" pitchFamily="34" charset="0"/>
                <a:ea typeface="+mj-ea"/>
                <a:cs typeface="Arial" panose="020B0604020202020204" pitchFamily="34" charset="0"/>
              </a:rPr>
              <a:t>Raw dataset: N=457,670 observations, 301 variables</a:t>
            </a:r>
          </a:p>
          <a:p>
            <a:pPr marL="257175" indent="-257175">
              <a:buClr>
                <a:srgbClr val="BE0B34"/>
              </a:buClr>
              <a:buFont typeface="Arial"/>
              <a:buChar char="•"/>
            </a:pPr>
            <a:r>
              <a:rPr lang="en-US" sz="1400" dirty="0">
                <a:solidFill>
                  <a:srgbClr val="0C234B"/>
                </a:solidFill>
                <a:latin typeface="Arial" panose="020B0604020202020204" pitchFamily="34" charset="0"/>
                <a:ea typeface="+mj-ea"/>
                <a:cs typeface="Arial" panose="020B0604020202020204" pitchFamily="34" charset="0"/>
              </a:rPr>
              <a:t>Variable selection: reduced to 21 relevant features</a:t>
            </a:r>
          </a:p>
          <a:p>
            <a:pPr marL="257175" indent="-257175">
              <a:buClr>
                <a:srgbClr val="BE0B34"/>
              </a:buClr>
              <a:buFont typeface="Arial"/>
              <a:buChar char="•"/>
            </a:pPr>
            <a:r>
              <a:rPr lang="en-US" sz="1400" dirty="0">
                <a:solidFill>
                  <a:srgbClr val="0C234B"/>
                </a:solidFill>
                <a:latin typeface="Arial" panose="020B0604020202020204" pitchFamily="34" charset="0"/>
                <a:ea typeface="+mj-ea"/>
                <a:cs typeface="Arial" panose="020B0604020202020204" pitchFamily="34" charset="0"/>
              </a:rPr>
              <a:t>Complete-case dataset: n=62,367</a:t>
            </a:r>
          </a:p>
          <a:p>
            <a:pPr marL="257175" indent="-257175">
              <a:buClr>
                <a:srgbClr val="BE0B34"/>
              </a:buClr>
              <a:buFont typeface="Arial"/>
              <a:buChar char="•"/>
            </a:pPr>
            <a:r>
              <a:rPr lang="en-US" sz="1400" dirty="0">
                <a:solidFill>
                  <a:srgbClr val="0C234B"/>
                </a:solidFill>
                <a:latin typeface="Arial" panose="020B0604020202020204" pitchFamily="34" charset="0"/>
                <a:ea typeface="+mj-ea"/>
                <a:cs typeface="Arial" panose="020B0604020202020204" pitchFamily="34" charset="0"/>
              </a:rPr>
              <a:t>Encoding and scaling applied for clustering</a:t>
            </a:r>
          </a:p>
          <a:p>
            <a:pPr marL="257175" indent="-257175">
              <a:buClr>
                <a:srgbClr val="BE0B34"/>
              </a:buClr>
              <a:buFont typeface="Arial"/>
              <a:buChar char="•"/>
            </a:pPr>
            <a:r>
              <a:rPr lang="en-US" sz="1400" dirty="0">
                <a:solidFill>
                  <a:srgbClr val="0C234B"/>
                </a:solidFill>
                <a:latin typeface="Arial" panose="020B0604020202020204" pitchFamily="34" charset="0"/>
                <a:ea typeface="+mj-ea"/>
                <a:cs typeface="Arial" panose="020B0604020202020204" pitchFamily="34" charset="0"/>
              </a:rPr>
              <a:t>Final analytic dataset: n=3,000 (random subsample)</a:t>
            </a:r>
          </a:p>
          <a:p>
            <a:pPr marL="257175" indent="-257175">
              <a:buClr>
                <a:srgbClr val="BE0B34"/>
              </a:buClr>
              <a:buFont typeface="Arial"/>
              <a:buChar char="•"/>
            </a:pPr>
            <a:r>
              <a:rPr lang="en-US" sz="1400" dirty="0">
                <a:solidFill>
                  <a:srgbClr val="0C234B"/>
                </a:solidFill>
                <a:latin typeface="Arial" panose="020B0604020202020204" pitchFamily="34" charset="0"/>
                <a:ea typeface="+mj-ea"/>
                <a:cs typeface="Arial" panose="020B0604020202020204" pitchFamily="34" charset="0"/>
              </a:rPr>
              <a:t>Jaccard dataset constructed from binary features</a:t>
            </a:r>
          </a:p>
        </p:txBody>
      </p:sp>
      <p:sp>
        <p:nvSpPr>
          <p:cNvPr id="5" name="Content Placeholder 4">
            <a:extLst>
              <a:ext uri="{FF2B5EF4-FFF2-40B4-BE49-F238E27FC236}">
                <a16:creationId xmlns:a16="http://schemas.microsoft.com/office/drawing/2014/main" id="{739D289D-BB8D-625A-6B29-B49914A18FF5}"/>
              </a:ext>
            </a:extLst>
          </p:cNvPr>
          <p:cNvSpPr>
            <a:spLocks noGrp="1"/>
          </p:cNvSpPr>
          <p:nvPr>
            <p:ph idx="13"/>
          </p:nvPr>
        </p:nvSpPr>
        <p:spPr>
          <a:xfrm>
            <a:off x="3495893" y="900476"/>
            <a:ext cx="2532998" cy="3764356"/>
          </a:xfrm>
        </p:spPr>
        <p:txBody>
          <a:bodyPr>
            <a:normAutofit fontScale="25000" lnSpcReduction="20000"/>
          </a:bodyPr>
          <a:lstStyle/>
          <a:p>
            <a:pPr>
              <a:lnSpc>
                <a:spcPct val="130000"/>
              </a:lnSpc>
            </a:pPr>
            <a:r>
              <a:rPr lang="en-US" sz="6400" b="1" dirty="0">
                <a:solidFill>
                  <a:srgbClr val="0C234B"/>
                </a:solidFill>
                <a:latin typeface="Arial" panose="020B0604020202020204" pitchFamily="34" charset="0"/>
                <a:ea typeface="+mj-ea"/>
                <a:cs typeface="Arial" panose="020B0604020202020204" pitchFamily="34" charset="0"/>
              </a:rPr>
              <a:t>Reduction Rationale</a:t>
            </a:r>
          </a:p>
          <a:p>
            <a:pPr marL="257175" indent="-257175">
              <a:lnSpc>
                <a:spcPct val="120000"/>
              </a:lnSpc>
              <a:buClr>
                <a:srgbClr val="BE0B34"/>
              </a:buClr>
              <a:buFont typeface="Arial"/>
              <a:buChar char="•"/>
            </a:pPr>
            <a:r>
              <a:rPr lang="en-US" sz="5200" dirty="0">
                <a:solidFill>
                  <a:srgbClr val="0C234B"/>
                </a:solidFill>
                <a:latin typeface="Arial" panose="020B0604020202020204" pitchFamily="34" charset="0"/>
                <a:ea typeface="+mj-ea"/>
                <a:cs typeface="Arial" panose="020B0604020202020204" pitchFamily="34" charset="0"/>
              </a:rPr>
              <a:t>Focus on complete-case data to ensure valid distance calculations</a:t>
            </a:r>
          </a:p>
          <a:p>
            <a:pPr marL="257175" indent="-257175">
              <a:lnSpc>
                <a:spcPct val="120000"/>
              </a:lnSpc>
              <a:buClr>
                <a:srgbClr val="BE0B34"/>
              </a:buClr>
              <a:buFont typeface="Arial"/>
              <a:buChar char="•"/>
            </a:pPr>
            <a:r>
              <a:rPr lang="en-US" sz="5200" dirty="0">
                <a:solidFill>
                  <a:srgbClr val="0C234B"/>
                </a:solidFill>
                <a:latin typeface="Arial" panose="020B0604020202020204" pitchFamily="34" charset="0"/>
                <a:ea typeface="+mj-ea"/>
                <a:cs typeface="Arial" panose="020B0604020202020204" pitchFamily="34" charset="0"/>
              </a:rPr>
              <a:t>Feature selection improves signal-to-noise ratio</a:t>
            </a:r>
          </a:p>
          <a:p>
            <a:pPr marL="257175" indent="-257175">
              <a:lnSpc>
                <a:spcPct val="120000"/>
              </a:lnSpc>
              <a:buClr>
                <a:srgbClr val="BE0B34"/>
              </a:buClr>
              <a:buFont typeface="Arial"/>
              <a:buChar char="•"/>
            </a:pPr>
            <a:r>
              <a:rPr lang="en-US" sz="5200" dirty="0">
                <a:solidFill>
                  <a:srgbClr val="0C234B"/>
                </a:solidFill>
                <a:latin typeface="Arial" panose="020B0604020202020204" pitchFamily="34" charset="0"/>
                <a:ea typeface="+mj-ea"/>
                <a:cs typeface="Arial" panose="020B0604020202020204" pitchFamily="34" charset="0"/>
              </a:rPr>
              <a:t>Scaling ensures comparability across variables</a:t>
            </a:r>
          </a:p>
          <a:p>
            <a:pPr marL="257175" indent="-257175">
              <a:lnSpc>
                <a:spcPct val="120000"/>
              </a:lnSpc>
              <a:buClr>
                <a:srgbClr val="BE0B34"/>
              </a:buClr>
              <a:buFont typeface="Arial"/>
              <a:buChar char="•"/>
            </a:pPr>
            <a:r>
              <a:rPr lang="en-US" sz="5200" dirty="0">
                <a:solidFill>
                  <a:srgbClr val="0C234B"/>
                </a:solidFill>
                <a:latin typeface="Arial" panose="020B0604020202020204" pitchFamily="34" charset="0"/>
                <a:ea typeface="+mj-ea"/>
                <a:cs typeface="Arial" panose="020B0604020202020204" pitchFamily="34" charset="0"/>
              </a:rPr>
              <a:t>Subsampling (n=3000):</a:t>
            </a:r>
          </a:p>
          <a:p>
            <a:pPr lvl="1" algn="l">
              <a:lnSpc>
                <a:spcPct val="120000"/>
              </a:lnSpc>
            </a:pPr>
            <a:r>
              <a:rPr lang="en-US" sz="4000" dirty="0">
                <a:solidFill>
                  <a:srgbClr val="0C234B"/>
                </a:solidFill>
                <a:latin typeface="Arial" panose="020B0604020202020204" pitchFamily="34" charset="0"/>
                <a:ea typeface="+mj-ea"/>
                <a:cs typeface="Arial" panose="020B0604020202020204" pitchFamily="34" charset="0"/>
              </a:rPr>
              <a:t>Maintains distributional structure</a:t>
            </a:r>
          </a:p>
          <a:p>
            <a:pPr lvl="1" algn="l">
              <a:lnSpc>
                <a:spcPct val="120000"/>
              </a:lnSpc>
            </a:pPr>
            <a:r>
              <a:rPr lang="en-US" sz="4000" dirty="0">
                <a:solidFill>
                  <a:srgbClr val="0C234B"/>
                </a:solidFill>
                <a:latin typeface="Arial" panose="020B0604020202020204" pitchFamily="34" charset="0"/>
                <a:ea typeface="+mj-ea"/>
                <a:cs typeface="Arial" panose="020B0604020202020204" pitchFamily="34" charset="0"/>
              </a:rPr>
              <a:t>Enables computational feasibility</a:t>
            </a:r>
          </a:p>
          <a:p>
            <a:pPr lvl="1" algn="l">
              <a:lnSpc>
                <a:spcPct val="120000"/>
              </a:lnSpc>
            </a:pPr>
            <a:r>
              <a:rPr lang="en-US" sz="4000" dirty="0">
                <a:solidFill>
                  <a:srgbClr val="0C234B"/>
                </a:solidFill>
                <a:latin typeface="Arial" panose="020B0604020202020204" pitchFamily="34" charset="0"/>
                <a:ea typeface="+mj-ea"/>
                <a:cs typeface="Arial" panose="020B0604020202020204" pitchFamily="34" charset="0"/>
              </a:rPr>
              <a:t>Supports bootstrap stability analysis (n=100)</a:t>
            </a:r>
          </a:p>
          <a:p>
            <a:pPr marL="257175" indent="-257175">
              <a:lnSpc>
                <a:spcPct val="120000"/>
              </a:lnSpc>
              <a:buClr>
                <a:srgbClr val="BE0B34"/>
              </a:buClr>
              <a:buFont typeface="Arial"/>
              <a:buChar char="•"/>
            </a:pPr>
            <a:r>
              <a:rPr lang="en-US" sz="5200" dirty="0">
                <a:solidFill>
                  <a:srgbClr val="0C234B"/>
                </a:solidFill>
                <a:latin typeface="Arial" panose="020B0604020202020204" pitchFamily="34" charset="0"/>
                <a:ea typeface="+mj-ea"/>
                <a:cs typeface="Arial" panose="020B0604020202020204" pitchFamily="34" charset="0"/>
              </a:rPr>
              <a:t>Binary encoding required for Jaccard distance.</a:t>
            </a:r>
          </a:p>
        </p:txBody>
      </p:sp>
    </p:spTree>
    <p:extLst>
      <p:ext uri="{BB962C8B-B14F-4D97-AF65-F5344CB8AC3E}">
        <p14:creationId xmlns:p14="http://schemas.microsoft.com/office/powerpoint/2010/main" val="205619687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a:xfrm>
            <a:off x="1371218" y="3068562"/>
            <a:ext cx="4114800" cy="971624"/>
          </a:xfrm>
        </p:spPr>
        <p:txBody>
          <a:bodyPr/>
          <a:lstStyle/>
          <a:p>
            <a:pPr algn="l" defTabSz="685800"/>
            <a:r>
              <a:rPr lang="en-US" sz="1600" dirty="0">
                <a:solidFill>
                  <a:srgbClr val="0C234B"/>
                </a:solidFill>
                <a:latin typeface="Arial" panose="020B0604020202020204" pitchFamily="34" charset="0"/>
                <a:ea typeface="+mj-ea"/>
                <a:cs typeface="Arial" panose="020B0604020202020204" pitchFamily="34" charset="0"/>
              </a:rPr>
              <a:t>Substantial data reduction occurred during complete-case filtering, followed by intentional subsampling for clustering analysis</a:t>
            </a:r>
            <a:endParaRPr sz="1600" dirty="0">
              <a:solidFill>
                <a:srgbClr val="0C234B"/>
              </a:solidFill>
              <a:latin typeface="Arial" panose="020B0604020202020204" pitchFamily="34" charset="0"/>
              <a:ea typeface="+mj-ea"/>
              <a:cs typeface="Arial" panose="020B0604020202020204" pitchFamily="34" charset="0"/>
            </a:endParaRPr>
          </a:p>
        </p:txBody>
      </p:sp>
      <p:sp>
        <p:nvSpPr>
          <p:cNvPr id="4" name="Title 3"/>
          <p:cNvSpPr>
            <a:spLocks noGrp="1"/>
          </p:cNvSpPr>
          <p:nvPr>
            <p:ph type="title"/>
          </p:nvPr>
        </p:nvSpPr>
        <p:spPr/>
        <p:txBody>
          <a:bodyPr/>
          <a:lstStyle/>
          <a:p>
            <a:r>
              <a:t>Dataset Processing Summary</a:t>
            </a:r>
          </a:p>
        </p:txBody>
      </p:sp>
      <p:pic>
        <p:nvPicPr>
          <p:cNvPr id="5" name="Picture 4" descr="table1_dataset_size_summary.png"/>
          <p:cNvPicPr>
            <a:picLocks noChangeAspect="1"/>
          </p:cNvPicPr>
          <p:nvPr/>
        </p:nvPicPr>
        <p:blipFill>
          <a:blip r:embed="rId3"/>
          <a:stretch>
            <a:fillRect/>
          </a:stretch>
        </p:blipFill>
        <p:spPr>
          <a:xfrm>
            <a:off x="513968" y="1103314"/>
            <a:ext cx="5959846" cy="163255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Clustering Setup</a:t>
            </a:r>
          </a:p>
        </p:txBody>
      </p:sp>
      <p:sp>
        <p:nvSpPr>
          <p:cNvPr id="3" name="Content Placeholder 2"/>
          <p:cNvSpPr>
            <a:spLocks noGrp="1"/>
          </p:cNvSpPr>
          <p:nvPr>
            <p:ph idx="1"/>
          </p:nvPr>
        </p:nvSpPr>
        <p:spPr>
          <a:xfrm>
            <a:off x="574082" y="830851"/>
            <a:ext cx="2699448" cy="3854867"/>
          </a:xfrm>
        </p:spPr>
        <p:txBody>
          <a:bodyPr/>
          <a:lstStyle/>
          <a:p>
            <a:pPr marL="0" indent="0" defTabSz="685800">
              <a:lnSpc>
                <a:spcPct val="110000"/>
              </a:lnSpc>
              <a:buClrTx/>
              <a:buNone/>
            </a:pPr>
            <a:r>
              <a:rPr sz="1600" b="1" dirty="0">
                <a:solidFill>
                  <a:srgbClr val="0C234B"/>
                </a:solidFill>
                <a:latin typeface="Arial" panose="020B0604020202020204" pitchFamily="34" charset="0"/>
                <a:ea typeface="+mj-ea"/>
                <a:cs typeface="Arial" panose="020B0604020202020204" pitchFamily="34" charset="0"/>
              </a:rPr>
              <a:t>k-</a:t>
            </a:r>
            <a:r>
              <a:rPr lang="en-US" sz="1600" b="1" dirty="0">
                <a:solidFill>
                  <a:srgbClr val="0C234B"/>
                </a:solidFill>
                <a:latin typeface="Arial" panose="020B0604020202020204" pitchFamily="34" charset="0"/>
                <a:ea typeface="+mj-ea"/>
                <a:cs typeface="Arial" panose="020B0604020202020204" pitchFamily="34" charset="0"/>
              </a:rPr>
              <a:t>M</a:t>
            </a:r>
            <a:r>
              <a:rPr sz="1600" b="1" dirty="0">
                <a:solidFill>
                  <a:srgbClr val="0C234B"/>
                </a:solidFill>
                <a:latin typeface="Arial" panose="020B0604020202020204" pitchFamily="34" charset="0"/>
                <a:ea typeface="+mj-ea"/>
                <a:cs typeface="Arial" panose="020B0604020202020204" pitchFamily="34" charset="0"/>
              </a:rPr>
              <a:t>edoids cluster</a:t>
            </a:r>
            <a:r>
              <a:rPr lang="en-US" sz="1600" b="1" dirty="0">
                <a:solidFill>
                  <a:srgbClr val="0C234B"/>
                </a:solidFill>
                <a:latin typeface="Arial" panose="020B0604020202020204" pitchFamily="34" charset="0"/>
                <a:ea typeface="+mj-ea"/>
                <a:cs typeface="Arial" panose="020B0604020202020204" pitchFamily="34" charset="0"/>
              </a:rPr>
              <a:t>ing</a:t>
            </a:r>
          </a:p>
          <a:p>
            <a:pPr marL="0" indent="0">
              <a:buNone/>
            </a:pPr>
            <a:endParaRPr lang="en-US" dirty="0"/>
          </a:p>
          <a:p>
            <a:pPr defTabSz="685800"/>
            <a:r>
              <a:rPr lang="en-US" sz="1300" dirty="0">
                <a:solidFill>
                  <a:srgbClr val="0C234B"/>
                </a:solidFill>
                <a:latin typeface="Arial" panose="020B0604020202020204" pitchFamily="34" charset="0"/>
                <a:ea typeface="+mj-ea"/>
                <a:cs typeface="Arial" panose="020B0604020202020204" pitchFamily="34" charset="0"/>
              </a:rPr>
              <a:t>Partitions data into k clusters using representative observations (medoids)</a:t>
            </a:r>
          </a:p>
          <a:p>
            <a:pPr defTabSz="685800"/>
            <a:r>
              <a:rPr lang="en-US" sz="1300" dirty="0">
                <a:solidFill>
                  <a:srgbClr val="0C234B"/>
                </a:solidFill>
                <a:latin typeface="Arial" panose="020B0604020202020204" pitchFamily="34" charset="0"/>
                <a:ea typeface="+mj-ea"/>
                <a:cs typeface="Arial" panose="020B0604020202020204" pitchFamily="34" charset="0"/>
              </a:rPr>
              <a:t>Clusters are defined by minimizing distance to a representative medoid</a:t>
            </a:r>
          </a:p>
          <a:p>
            <a:pPr defTabSz="685800"/>
            <a:r>
              <a:rPr lang="en-US" sz="1300" dirty="0">
                <a:solidFill>
                  <a:srgbClr val="0C234B"/>
                </a:solidFill>
                <a:latin typeface="Arial" panose="020B0604020202020204" pitchFamily="34" charset="0"/>
                <a:ea typeface="+mj-ea"/>
                <a:cs typeface="Arial" panose="020B0604020202020204" pitchFamily="34" charset="0"/>
              </a:rPr>
              <a:t>More robust to outliers than k-means or k-modes</a:t>
            </a:r>
            <a:endParaRPr sz="1300" dirty="0">
              <a:solidFill>
                <a:srgbClr val="0C234B"/>
              </a:solidFill>
              <a:latin typeface="Arial" panose="020B0604020202020204" pitchFamily="34" charset="0"/>
              <a:ea typeface="+mj-ea"/>
              <a:cs typeface="Arial" panose="020B0604020202020204" pitchFamily="34" charset="0"/>
            </a:endParaRPr>
          </a:p>
          <a:p>
            <a:pPr defTabSz="685800"/>
            <a:r>
              <a:rPr lang="en-US" sz="1300" dirty="0">
                <a:solidFill>
                  <a:srgbClr val="0C234B"/>
                </a:solidFill>
                <a:latin typeface="Arial" panose="020B0604020202020204" pitchFamily="34" charset="0"/>
                <a:ea typeface="+mj-ea"/>
                <a:cs typeface="Arial" panose="020B0604020202020204" pitchFamily="34" charset="0"/>
              </a:rPr>
              <a:t>Applied with k=3, 4, 5</a:t>
            </a:r>
          </a:p>
          <a:p>
            <a:pPr defTabSz="685800"/>
            <a:r>
              <a:rPr lang="en-US" sz="1300" dirty="0">
                <a:solidFill>
                  <a:srgbClr val="0C234B"/>
                </a:solidFill>
                <a:latin typeface="Arial" panose="020B0604020202020204" pitchFamily="34" charset="0"/>
                <a:ea typeface="+mj-ea"/>
                <a:cs typeface="Arial" panose="020B0604020202020204" pitchFamily="34" charset="0"/>
              </a:rPr>
              <a:t>Evaluated across multiple distance metrics</a:t>
            </a:r>
          </a:p>
          <a:p>
            <a:endParaRPr dirty="0"/>
          </a:p>
        </p:txBody>
      </p:sp>
      <p:sp>
        <p:nvSpPr>
          <p:cNvPr id="4" name="Content Placeholder 3"/>
          <p:cNvSpPr>
            <a:spLocks noGrp="1"/>
          </p:cNvSpPr>
          <p:nvPr>
            <p:ph idx="13"/>
          </p:nvPr>
        </p:nvSpPr>
        <p:spPr>
          <a:xfrm>
            <a:off x="3542453" y="830851"/>
            <a:ext cx="2699448" cy="3854867"/>
          </a:xfrm>
        </p:spPr>
        <p:txBody>
          <a:bodyPr>
            <a:normAutofit lnSpcReduction="10000"/>
          </a:bodyPr>
          <a:lstStyle/>
          <a:p>
            <a:pPr marL="0" indent="0" defTabSz="685800">
              <a:lnSpc>
                <a:spcPct val="120000"/>
              </a:lnSpc>
              <a:buClrTx/>
              <a:buNone/>
            </a:pPr>
            <a:r>
              <a:rPr lang="en-US" sz="1600" b="1" dirty="0">
                <a:solidFill>
                  <a:srgbClr val="0C234B"/>
                </a:solidFill>
                <a:latin typeface="Arial" panose="020B0604020202020204" pitchFamily="34" charset="0"/>
                <a:ea typeface="+mj-ea"/>
                <a:cs typeface="Arial" panose="020B0604020202020204" pitchFamily="34" charset="0"/>
              </a:rPr>
              <a:t>Distance Metrics</a:t>
            </a:r>
          </a:p>
          <a:p>
            <a:pPr marL="0" indent="0">
              <a:buNone/>
            </a:pPr>
            <a:endParaRPr lang="en-US" sz="1600" b="1" dirty="0">
              <a:solidFill>
                <a:srgbClr val="0C234B"/>
              </a:solidFill>
              <a:latin typeface="Arial" panose="020B0604020202020204" pitchFamily="34" charset="0"/>
              <a:ea typeface="+mj-ea"/>
              <a:cs typeface="Arial" panose="020B0604020202020204" pitchFamily="34" charset="0"/>
            </a:endParaRPr>
          </a:p>
          <a:p>
            <a:r>
              <a:rPr lang="en-US" sz="1300" b="1" dirty="0">
                <a:solidFill>
                  <a:srgbClr val="0C234B"/>
                </a:solidFill>
                <a:latin typeface="Arial" panose="020B0604020202020204" pitchFamily="34" charset="0"/>
                <a:ea typeface="+mj-ea"/>
                <a:cs typeface="Arial" panose="020B0604020202020204" pitchFamily="34" charset="0"/>
              </a:rPr>
              <a:t>Euclidean</a:t>
            </a:r>
          </a:p>
          <a:p>
            <a:pPr marL="271463" lvl="1" indent="0">
              <a:buNone/>
            </a:pPr>
            <a:r>
              <a:rPr lang="en-US" sz="1000" dirty="0">
                <a:solidFill>
                  <a:srgbClr val="0C234B"/>
                </a:solidFill>
                <a:latin typeface="Arial" panose="020B0604020202020204" pitchFamily="34" charset="0"/>
                <a:ea typeface="+mj-ea"/>
                <a:cs typeface="Arial" panose="020B0604020202020204" pitchFamily="34" charset="0"/>
              </a:rPr>
              <a:t>Straight-line distance (sensitive to scale)</a:t>
            </a:r>
          </a:p>
          <a:p>
            <a:r>
              <a:rPr lang="en-US" sz="1300" b="1" dirty="0">
                <a:solidFill>
                  <a:srgbClr val="0C234B"/>
                </a:solidFill>
                <a:latin typeface="Arial" panose="020B0604020202020204" pitchFamily="34" charset="0"/>
                <a:ea typeface="+mj-ea"/>
                <a:cs typeface="Arial" panose="020B0604020202020204" pitchFamily="34" charset="0"/>
              </a:rPr>
              <a:t>Manhattan</a:t>
            </a:r>
          </a:p>
          <a:p>
            <a:pPr marL="271463" lvl="1" indent="0">
              <a:buNone/>
            </a:pPr>
            <a:r>
              <a:rPr lang="en-US" sz="1000" dirty="0">
                <a:solidFill>
                  <a:srgbClr val="0C234B"/>
                </a:solidFill>
                <a:latin typeface="Arial" panose="020B0604020202020204" pitchFamily="34" charset="0"/>
                <a:ea typeface="+mj-ea"/>
                <a:cs typeface="Arial" panose="020B0604020202020204" pitchFamily="34" charset="0"/>
              </a:rPr>
              <a:t>Sum of absolute differences (grid-like distance)</a:t>
            </a:r>
          </a:p>
          <a:p>
            <a:r>
              <a:rPr lang="en-US" sz="1300" b="1" dirty="0">
                <a:solidFill>
                  <a:srgbClr val="0C234B"/>
                </a:solidFill>
                <a:latin typeface="Arial" panose="020B0604020202020204" pitchFamily="34" charset="0"/>
                <a:ea typeface="+mj-ea"/>
                <a:cs typeface="Arial" panose="020B0604020202020204" pitchFamily="34" charset="0"/>
              </a:rPr>
              <a:t>Cosine</a:t>
            </a:r>
          </a:p>
          <a:p>
            <a:pPr marL="271463" lvl="1" indent="0">
              <a:buNone/>
            </a:pPr>
            <a:r>
              <a:rPr lang="en-US" sz="1000" dirty="0">
                <a:solidFill>
                  <a:srgbClr val="0C234B"/>
                </a:solidFill>
                <a:latin typeface="Arial" panose="020B0604020202020204" pitchFamily="34" charset="0"/>
                <a:ea typeface="+mj-ea"/>
                <a:cs typeface="Arial" panose="020B0604020202020204" pitchFamily="34" charset="0"/>
              </a:rPr>
              <a:t>Measures angle similarity, not magnitude</a:t>
            </a:r>
          </a:p>
          <a:p>
            <a:r>
              <a:rPr lang="en-US" sz="1300" b="1" dirty="0">
                <a:solidFill>
                  <a:srgbClr val="0C234B"/>
                </a:solidFill>
                <a:latin typeface="Arial" panose="020B0604020202020204" pitchFamily="34" charset="0"/>
                <a:ea typeface="+mj-ea"/>
                <a:cs typeface="Arial" panose="020B0604020202020204" pitchFamily="34" charset="0"/>
              </a:rPr>
              <a:t>Jaccard</a:t>
            </a:r>
          </a:p>
          <a:p>
            <a:pPr marL="271463" lvl="1" indent="0">
              <a:buNone/>
            </a:pPr>
            <a:r>
              <a:rPr lang="en-US" sz="1000" dirty="0">
                <a:solidFill>
                  <a:srgbClr val="0C234B"/>
                </a:solidFill>
                <a:latin typeface="Arial" panose="020B0604020202020204" pitchFamily="34" charset="0"/>
                <a:ea typeface="+mj-ea"/>
                <a:cs typeface="Arial" panose="020B0604020202020204" pitchFamily="34" charset="0"/>
              </a:rPr>
              <a:t>Measures similarity of binary features only.</a:t>
            </a:r>
          </a:p>
          <a:p>
            <a:pPr marL="271463" lvl="1" indent="0">
              <a:buNone/>
            </a:pPr>
            <a:endParaRPr lang="en-US" sz="1000" dirty="0">
              <a:solidFill>
                <a:srgbClr val="0C234B"/>
              </a:solidFill>
              <a:latin typeface="Arial" panose="020B0604020202020204" pitchFamily="34" charset="0"/>
              <a:ea typeface="+mj-ea"/>
              <a:cs typeface="Arial" panose="020B0604020202020204" pitchFamily="34" charset="0"/>
            </a:endParaRPr>
          </a:p>
          <a:p>
            <a:pPr marL="271463" lvl="1" indent="0">
              <a:buNone/>
            </a:pPr>
            <a:r>
              <a:rPr lang="en-US" sz="1300" dirty="0">
                <a:solidFill>
                  <a:srgbClr val="0C234B"/>
                </a:solidFill>
                <a:latin typeface="Arial" panose="020B0604020202020204" pitchFamily="34" charset="0"/>
                <a:ea typeface="+mj-ea"/>
                <a:cs typeface="Arial" panose="020B0604020202020204" pitchFamily="34" charset="0"/>
              </a:rPr>
              <a:t>Choice of metric defines “similarity” in clustering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AEE750B-D937-DEA4-3D6C-CC8F95B77CB7}"/>
              </a:ext>
            </a:extLst>
          </p:cNvPr>
          <p:cNvSpPr>
            <a:spLocks noGrp="1"/>
          </p:cNvSpPr>
          <p:nvPr>
            <p:ph type="sldNum" sz="quarter" idx="12"/>
          </p:nvPr>
        </p:nvSpPr>
        <p:spPr/>
        <p:txBody>
          <a:bodyPr/>
          <a:lstStyle/>
          <a:p>
            <a:fld id="{23131D21-4A4F-034C-896A-AD009F94F6BB}" type="slidenum">
              <a:rPr lang="en-US" smtClean="0"/>
              <a:t>10</a:t>
            </a:fld>
            <a:endParaRPr lang="en-US"/>
          </a:p>
        </p:txBody>
      </p:sp>
      <p:sp>
        <p:nvSpPr>
          <p:cNvPr id="3" name="Title 2">
            <a:extLst>
              <a:ext uri="{FF2B5EF4-FFF2-40B4-BE49-F238E27FC236}">
                <a16:creationId xmlns:a16="http://schemas.microsoft.com/office/drawing/2014/main" id="{BFD81564-1253-DC03-7DA9-344D14FD1D4E}"/>
              </a:ext>
            </a:extLst>
          </p:cNvPr>
          <p:cNvSpPr>
            <a:spLocks noGrp="1"/>
          </p:cNvSpPr>
          <p:nvPr>
            <p:ph type="title"/>
          </p:nvPr>
        </p:nvSpPr>
        <p:spPr/>
        <p:txBody>
          <a:bodyPr/>
          <a:lstStyle/>
          <a:p>
            <a:r>
              <a:rPr lang="en-US" dirty="0"/>
              <a:t>Results I</a:t>
            </a:r>
          </a:p>
        </p:txBody>
      </p:sp>
      <p:sp>
        <p:nvSpPr>
          <p:cNvPr id="4" name="Content Placeholder 3">
            <a:extLst>
              <a:ext uri="{FF2B5EF4-FFF2-40B4-BE49-F238E27FC236}">
                <a16:creationId xmlns:a16="http://schemas.microsoft.com/office/drawing/2014/main" id="{6BBF4A1B-75AD-8F77-6AD7-E5850B201163}"/>
              </a:ext>
            </a:extLst>
          </p:cNvPr>
          <p:cNvSpPr>
            <a:spLocks noGrp="1"/>
          </p:cNvSpPr>
          <p:nvPr>
            <p:ph idx="1"/>
          </p:nvPr>
        </p:nvSpPr>
        <p:spPr>
          <a:xfrm>
            <a:off x="408462" y="816926"/>
            <a:ext cx="3114531" cy="3777299"/>
          </a:xfrm>
        </p:spPr>
        <p:txBody>
          <a:bodyPr>
            <a:normAutofit/>
          </a:bodyPr>
          <a:lstStyle/>
          <a:p>
            <a:pPr>
              <a:lnSpc>
                <a:spcPct val="120000"/>
              </a:lnSpc>
            </a:pPr>
            <a:r>
              <a:rPr lang="en-US" sz="1600" b="1" dirty="0">
                <a:solidFill>
                  <a:srgbClr val="0C234B"/>
                </a:solidFill>
                <a:latin typeface="Arial" panose="020B0604020202020204" pitchFamily="34" charset="0"/>
                <a:ea typeface="+mj-ea"/>
                <a:cs typeface="Arial" panose="020B0604020202020204" pitchFamily="34" charset="0"/>
              </a:rPr>
              <a:t>Clustering Stability (ARI)</a:t>
            </a:r>
          </a:p>
          <a:p>
            <a:pPr marL="257175" indent="-257175">
              <a:lnSpc>
                <a:spcPct val="110000"/>
              </a:lnSpc>
              <a:buClr>
                <a:srgbClr val="BE0B34"/>
              </a:buClr>
              <a:buFont typeface="Arial"/>
              <a:buChar char="•"/>
            </a:pPr>
            <a:r>
              <a:rPr lang="en-US" sz="1300" dirty="0">
                <a:solidFill>
                  <a:srgbClr val="0C234B"/>
                </a:solidFill>
                <a:latin typeface="Arial" panose="020B0604020202020204" pitchFamily="34" charset="0"/>
                <a:ea typeface="+mj-ea"/>
                <a:cs typeface="Arial" panose="020B0604020202020204" pitchFamily="34" charset="0"/>
              </a:rPr>
              <a:t>Stability varied significantly across distance metrics</a:t>
            </a:r>
          </a:p>
          <a:p>
            <a:pPr marL="257175" indent="-257175">
              <a:lnSpc>
                <a:spcPct val="110000"/>
              </a:lnSpc>
              <a:buClr>
                <a:srgbClr val="BE0B34"/>
              </a:buClr>
              <a:buFont typeface="Arial"/>
              <a:buChar char="•"/>
            </a:pPr>
            <a:r>
              <a:rPr lang="en-US" sz="1300" b="1" dirty="0">
                <a:solidFill>
                  <a:srgbClr val="0C234B"/>
                </a:solidFill>
                <a:latin typeface="Arial" panose="020B0604020202020204" pitchFamily="34" charset="0"/>
                <a:ea typeface="+mj-ea"/>
                <a:cs typeface="Arial" panose="020B0604020202020204" pitchFamily="34" charset="0"/>
              </a:rPr>
              <a:t>Jaccard highest (0.47-0.56, k=3-5)</a:t>
            </a:r>
          </a:p>
          <a:p>
            <a:pPr marL="257175" indent="-257175">
              <a:lnSpc>
                <a:spcPct val="110000"/>
              </a:lnSpc>
              <a:buClr>
                <a:srgbClr val="BE0B34"/>
              </a:buClr>
              <a:buFont typeface="Arial"/>
              <a:buChar char="•"/>
            </a:pPr>
            <a:r>
              <a:rPr lang="en-US" sz="1300" dirty="0">
                <a:solidFill>
                  <a:srgbClr val="0C234B"/>
                </a:solidFill>
                <a:latin typeface="Arial" panose="020B0604020202020204" pitchFamily="34" charset="0"/>
                <a:ea typeface="+mj-ea"/>
                <a:cs typeface="Arial" panose="020B0604020202020204" pitchFamily="34" charset="0"/>
              </a:rPr>
              <a:t>Cosine showed moderate stability</a:t>
            </a:r>
          </a:p>
          <a:p>
            <a:pPr marL="257175" indent="-257175">
              <a:lnSpc>
                <a:spcPct val="110000"/>
              </a:lnSpc>
              <a:buClr>
                <a:srgbClr val="BE0B34"/>
              </a:buClr>
              <a:buFont typeface="Arial"/>
              <a:buChar char="•"/>
            </a:pPr>
            <a:r>
              <a:rPr lang="en-US" sz="1300" dirty="0">
                <a:solidFill>
                  <a:srgbClr val="0C234B"/>
                </a:solidFill>
                <a:latin typeface="Arial" panose="020B0604020202020204" pitchFamily="34" charset="0"/>
                <a:ea typeface="+mj-ea"/>
                <a:cs typeface="Arial" panose="020B0604020202020204" pitchFamily="34" charset="0"/>
              </a:rPr>
              <a:t>Manhattan and Euclidean showed lowest stability</a:t>
            </a:r>
          </a:p>
        </p:txBody>
      </p:sp>
      <p:sp>
        <p:nvSpPr>
          <p:cNvPr id="5" name="Content Placeholder 4">
            <a:extLst>
              <a:ext uri="{FF2B5EF4-FFF2-40B4-BE49-F238E27FC236}">
                <a16:creationId xmlns:a16="http://schemas.microsoft.com/office/drawing/2014/main" id="{B2DC46CD-6BE8-50FF-73EE-1842A238C6F2}"/>
              </a:ext>
            </a:extLst>
          </p:cNvPr>
          <p:cNvSpPr>
            <a:spLocks noGrp="1"/>
          </p:cNvSpPr>
          <p:nvPr>
            <p:ph idx="13"/>
          </p:nvPr>
        </p:nvSpPr>
        <p:spPr>
          <a:xfrm>
            <a:off x="3579442" y="816926"/>
            <a:ext cx="2532998" cy="3777299"/>
          </a:xfrm>
        </p:spPr>
        <p:txBody>
          <a:bodyPr/>
          <a:lstStyle/>
          <a:p>
            <a:pPr>
              <a:lnSpc>
                <a:spcPct val="120000"/>
              </a:lnSpc>
            </a:pPr>
            <a:r>
              <a:rPr lang="en-US" sz="1600" b="1" dirty="0">
                <a:solidFill>
                  <a:srgbClr val="0C234B"/>
                </a:solidFill>
                <a:latin typeface="Arial" panose="020B0604020202020204" pitchFamily="34" charset="0"/>
                <a:ea typeface="+mj-ea"/>
                <a:cs typeface="Arial" panose="020B0604020202020204" pitchFamily="34" charset="0"/>
              </a:rPr>
              <a:t>Statistical Results &amp; Interpretation</a:t>
            </a:r>
          </a:p>
          <a:p>
            <a:pPr marL="257175" indent="-257175">
              <a:lnSpc>
                <a:spcPct val="110000"/>
              </a:lnSpc>
              <a:buClr>
                <a:srgbClr val="BE0B34"/>
              </a:buClr>
              <a:buFont typeface="Arial"/>
              <a:buChar char="•"/>
            </a:pPr>
            <a:r>
              <a:rPr lang="en-US" sz="1300" dirty="0">
                <a:solidFill>
                  <a:srgbClr val="0C234B"/>
                </a:solidFill>
                <a:latin typeface="Arial" panose="020B0604020202020204" pitchFamily="34" charset="0"/>
                <a:ea typeface="+mj-ea"/>
                <a:cs typeface="Arial" panose="020B0604020202020204" pitchFamily="34" charset="0"/>
              </a:rPr>
              <a:t>Kruskal-Wallis: (p&lt;.001)</a:t>
            </a:r>
          </a:p>
          <a:p>
            <a:pPr marL="257175" indent="-257175">
              <a:lnSpc>
                <a:spcPct val="110000"/>
              </a:lnSpc>
              <a:buClr>
                <a:srgbClr val="BE0B34"/>
              </a:buClr>
              <a:buFont typeface="Arial"/>
              <a:buChar char="•"/>
            </a:pPr>
            <a:r>
              <a:rPr lang="en-US" sz="1300" dirty="0">
                <a:solidFill>
                  <a:srgbClr val="0C234B"/>
                </a:solidFill>
                <a:latin typeface="Arial" panose="020B0604020202020204" pitchFamily="34" charset="0"/>
                <a:ea typeface="+mj-ea"/>
                <a:cs typeface="Arial" panose="020B0604020202020204" pitchFamily="34" charset="0"/>
              </a:rPr>
              <a:t>Anova: Confirmed differences</a:t>
            </a:r>
          </a:p>
          <a:p>
            <a:pPr marL="257175" indent="-257175">
              <a:lnSpc>
                <a:spcPct val="110000"/>
              </a:lnSpc>
              <a:buClr>
                <a:srgbClr val="BE0B34"/>
              </a:buClr>
              <a:buFont typeface="Arial"/>
              <a:buChar char="•"/>
            </a:pPr>
            <a:r>
              <a:rPr lang="en-US" sz="1300" dirty="0">
                <a:solidFill>
                  <a:srgbClr val="0C234B"/>
                </a:solidFill>
                <a:latin typeface="Arial" panose="020B0604020202020204" pitchFamily="34" charset="0"/>
                <a:cs typeface="Arial" panose="020B0604020202020204" pitchFamily="34" charset="0"/>
              </a:rPr>
              <a:t>Consistent ranking:   Jaccard &gt; Cosine&gt; Manhattan&gt; Euclidean</a:t>
            </a:r>
          </a:p>
          <a:p>
            <a:pPr marL="257175" indent="-257175">
              <a:lnSpc>
                <a:spcPct val="110000"/>
              </a:lnSpc>
              <a:buClr>
                <a:srgbClr val="BE0B34"/>
              </a:buClr>
              <a:buFont typeface="Arial"/>
              <a:buChar char="•"/>
            </a:pPr>
            <a:endParaRPr lang="en-US" sz="1300" dirty="0">
              <a:solidFill>
                <a:srgbClr val="0C234B"/>
              </a:solidFill>
              <a:latin typeface="Arial" panose="020B0604020202020204" pitchFamily="34" charset="0"/>
              <a:ea typeface="+mj-ea"/>
              <a:cs typeface="Arial" panose="020B0604020202020204" pitchFamily="34" charset="0"/>
            </a:endParaRPr>
          </a:p>
        </p:txBody>
      </p:sp>
      <p:pic>
        <p:nvPicPr>
          <p:cNvPr id="8" name="Picture 7">
            <a:extLst>
              <a:ext uri="{FF2B5EF4-FFF2-40B4-BE49-F238E27FC236}">
                <a16:creationId xmlns:a16="http://schemas.microsoft.com/office/drawing/2014/main" id="{AB512C97-CE6F-15E3-C3BD-1E5FE126150A}"/>
              </a:ext>
            </a:extLst>
          </p:cNvPr>
          <p:cNvPicPr>
            <a:picLocks noChangeAspect="1"/>
          </p:cNvPicPr>
          <p:nvPr/>
        </p:nvPicPr>
        <p:blipFill>
          <a:blip r:embed="rId3"/>
          <a:stretch>
            <a:fillRect/>
          </a:stretch>
        </p:blipFill>
        <p:spPr>
          <a:xfrm>
            <a:off x="525842" y="3676166"/>
            <a:ext cx="5806315" cy="1062048"/>
          </a:xfrm>
          <a:prstGeom prst="rect">
            <a:avLst/>
          </a:prstGeom>
        </p:spPr>
      </p:pic>
    </p:spTree>
    <p:extLst>
      <p:ext uri="{BB962C8B-B14F-4D97-AF65-F5344CB8AC3E}">
        <p14:creationId xmlns:p14="http://schemas.microsoft.com/office/powerpoint/2010/main" val="30917785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225FBD-AC79-ADBE-7307-FA2E76A7D086}"/>
              </a:ext>
            </a:extLst>
          </p:cNvPr>
          <p:cNvSpPr>
            <a:spLocks noGrp="1"/>
          </p:cNvSpPr>
          <p:nvPr>
            <p:ph type="sldNum" sz="quarter" idx="12"/>
          </p:nvPr>
        </p:nvSpPr>
        <p:spPr/>
        <p:txBody>
          <a:bodyPr/>
          <a:lstStyle/>
          <a:p>
            <a:fld id="{23131D21-4A4F-034C-896A-AD009F94F6BB}" type="slidenum">
              <a:rPr lang="en-US" smtClean="0"/>
              <a:t>11</a:t>
            </a:fld>
            <a:endParaRPr lang="en-US"/>
          </a:p>
        </p:txBody>
      </p:sp>
      <p:sp>
        <p:nvSpPr>
          <p:cNvPr id="3" name="Title 2">
            <a:extLst>
              <a:ext uri="{FF2B5EF4-FFF2-40B4-BE49-F238E27FC236}">
                <a16:creationId xmlns:a16="http://schemas.microsoft.com/office/drawing/2014/main" id="{96D31E3C-A3EE-66DC-E48C-3FE7D12316A6}"/>
              </a:ext>
            </a:extLst>
          </p:cNvPr>
          <p:cNvSpPr>
            <a:spLocks noGrp="1"/>
          </p:cNvSpPr>
          <p:nvPr>
            <p:ph type="title"/>
          </p:nvPr>
        </p:nvSpPr>
        <p:spPr>
          <a:xfrm>
            <a:off x="514350" y="-9937"/>
            <a:ext cx="5829300" cy="736227"/>
          </a:xfrm>
        </p:spPr>
        <p:txBody>
          <a:bodyPr/>
          <a:lstStyle/>
          <a:p>
            <a:r>
              <a:rPr lang="en-US" dirty="0"/>
              <a:t>Results II</a:t>
            </a:r>
          </a:p>
        </p:txBody>
      </p:sp>
      <p:pic>
        <p:nvPicPr>
          <p:cNvPr id="7" name="Picture 6">
            <a:extLst>
              <a:ext uri="{FF2B5EF4-FFF2-40B4-BE49-F238E27FC236}">
                <a16:creationId xmlns:a16="http://schemas.microsoft.com/office/drawing/2014/main" id="{C46190EF-5BCA-1266-64FD-D20E7DB64025}"/>
              </a:ext>
            </a:extLst>
          </p:cNvPr>
          <p:cNvPicPr>
            <a:picLocks noChangeAspect="1"/>
          </p:cNvPicPr>
          <p:nvPr/>
        </p:nvPicPr>
        <p:blipFill>
          <a:blip r:embed="rId3"/>
          <a:stretch>
            <a:fillRect/>
          </a:stretch>
        </p:blipFill>
        <p:spPr>
          <a:xfrm>
            <a:off x="1292924" y="591683"/>
            <a:ext cx="4266372" cy="2054043"/>
          </a:xfrm>
          <a:prstGeom prst="rect">
            <a:avLst/>
          </a:prstGeom>
        </p:spPr>
      </p:pic>
      <p:pic>
        <p:nvPicPr>
          <p:cNvPr id="9" name="Picture 8">
            <a:extLst>
              <a:ext uri="{FF2B5EF4-FFF2-40B4-BE49-F238E27FC236}">
                <a16:creationId xmlns:a16="http://schemas.microsoft.com/office/drawing/2014/main" id="{B71B436D-2F2F-14B4-7489-2665C359D2C6}"/>
              </a:ext>
            </a:extLst>
          </p:cNvPr>
          <p:cNvPicPr>
            <a:picLocks noChangeAspect="1"/>
          </p:cNvPicPr>
          <p:nvPr/>
        </p:nvPicPr>
        <p:blipFill>
          <a:blip r:embed="rId4"/>
          <a:stretch>
            <a:fillRect/>
          </a:stretch>
        </p:blipFill>
        <p:spPr>
          <a:xfrm>
            <a:off x="1531455" y="2855278"/>
            <a:ext cx="3789309" cy="1817372"/>
          </a:xfrm>
          <a:prstGeom prst="rect">
            <a:avLst/>
          </a:prstGeom>
        </p:spPr>
      </p:pic>
    </p:spTree>
    <p:extLst>
      <p:ext uri="{BB962C8B-B14F-4D97-AF65-F5344CB8AC3E}">
        <p14:creationId xmlns:p14="http://schemas.microsoft.com/office/powerpoint/2010/main" val="3444692194"/>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a:t>
            </a:r>
            <a:endParaRPr dirty="0"/>
          </a:p>
        </p:txBody>
      </p:sp>
      <p:sp>
        <p:nvSpPr>
          <p:cNvPr id="3" name="Content Placeholder 2"/>
          <p:cNvSpPr>
            <a:spLocks noGrp="1"/>
          </p:cNvSpPr>
          <p:nvPr>
            <p:ph idx="1"/>
          </p:nvPr>
        </p:nvSpPr>
        <p:spPr>
          <a:xfrm>
            <a:off x="431671" y="789076"/>
            <a:ext cx="2841859" cy="3785243"/>
          </a:xfrm>
        </p:spPr>
        <p:txBody>
          <a:bodyPr>
            <a:normAutofit/>
          </a:bodyPr>
          <a:lstStyle/>
          <a:p>
            <a:pPr marL="0" indent="0" defTabSz="685800">
              <a:lnSpc>
                <a:spcPct val="140000"/>
              </a:lnSpc>
              <a:buClrTx/>
              <a:buNone/>
            </a:pPr>
            <a:r>
              <a:rPr lang="en-US" sz="1700" b="1" dirty="0">
                <a:solidFill>
                  <a:srgbClr val="0C234B"/>
                </a:solidFill>
                <a:latin typeface="Arial" panose="020B0604020202020204" pitchFamily="34" charset="0"/>
                <a:ea typeface="+mj-ea"/>
                <a:cs typeface="Arial" panose="020B0604020202020204" pitchFamily="34" charset="0"/>
              </a:rPr>
              <a:t>Interpretation</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Distance metric drives clustering outcomes</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Jaccard captures meaningful similarity in binary data</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Higher ARI = more reproducible phenotypes</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Improvement with increasing k suggests better resolution of subgroup structure in sparse data</a:t>
            </a:r>
            <a:endParaRPr sz="1400" dirty="0">
              <a:solidFill>
                <a:srgbClr val="0C234B"/>
              </a:solidFill>
              <a:latin typeface="Arial" panose="020B0604020202020204" pitchFamily="34" charset="0"/>
              <a:ea typeface="+mj-ea"/>
              <a:cs typeface="Arial" panose="020B0604020202020204" pitchFamily="34" charset="0"/>
            </a:endParaRPr>
          </a:p>
        </p:txBody>
      </p:sp>
      <p:sp>
        <p:nvSpPr>
          <p:cNvPr id="4" name="Content Placeholder 3"/>
          <p:cNvSpPr>
            <a:spLocks noGrp="1"/>
          </p:cNvSpPr>
          <p:nvPr>
            <p:ph idx="13"/>
          </p:nvPr>
        </p:nvSpPr>
        <p:spPr>
          <a:xfrm>
            <a:off x="3584471" y="789076"/>
            <a:ext cx="3080901" cy="3785243"/>
          </a:xfrm>
        </p:spPr>
        <p:txBody>
          <a:bodyPr>
            <a:normAutofit/>
          </a:bodyPr>
          <a:lstStyle/>
          <a:p>
            <a:pPr marL="0" indent="0" defTabSz="685800">
              <a:lnSpc>
                <a:spcPct val="140000"/>
              </a:lnSpc>
              <a:buClrTx/>
              <a:buNone/>
            </a:pPr>
            <a:r>
              <a:rPr lang="en-US" sz="1700" b="1" dirty="0">
                <a:solidFill>
                  <a:srgbClr val="0C234B"/>
                </a:solidFill>
                <a:latin typeface="Arial" panose="020B0604020202020204" pitchFamily="34" charset="0"/>
                <a:ea typeface="+mj-ea"/>
                <a:cs typeface="Arial" panose="020B0604020202020204" pitchFamily="34" charset="0"/>
              </a:rPr>
              <a:t>Implications</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Distance metric = primary modeling choice.</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Binary similarity may be better for phenotyping</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Jaccard performs best in high-dimensional, mixed clinical data</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More reliable subgroup identification</a:t>
            </a:r>
            <a:endParaRPr sz="1400" dirty="0">
              <a:solidFill>
                <a:srgbClr val="0C234B"/>
              </a:solidFill>
              <a:latin typeface="Arial" panose="020B0604020202020204" pitchFamily="34" charset="0"/>
              <a:ea typeface="+mj-ea"/>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B794BD-4AE7-90CD-6F63-AC19F10DBB39}"/>
              </a:ext>
            </a:extLst>
          </p:cNvPr>
          <p:cNvSpPr>
            <a:spLocks noGrp="1"/>
          </p:cNvSpPr>
          <p:nvPr>
            <p:ph type="sldNum" sz="quarter" idx="12"/>
          </p:nvPr>
        </p:nvSpPr>
        <p:spPr/>
        <p:txBody>
          <a:bodyPr/>
          <a:lstStyle/>
          <a:p>
            <a:fld id="{23131D21-4A4F-034C-896A-AD009F94F6BB}" type="slidenum">
              <a:rPr lang="en-US" smtClean="0"/>
              <a:t>13</a:t>
            </a:fld>
            <a:endParaRPr lang="en-US"/>
          </a:p>
        </p:txBody>
      </p:sp>
      <p:sp>
        <p:nvSpPr>
          <p:cNvPr id="3" name="Title 2">
            <a:extLst>
              <a:ext uri="{FF2B5EF4-FFF2-40B4-BE49-F238E27FC236}">
                <a16:creationId xmlns:a16="http://schemas.microsoft.com/office/drawing/2014/main" id="{BF2865CB-2FD1-8256-E2F7-8C3608D4B33B}"/>
              </a:ext>
            </a:extLst>
          </p:cNvPr>
          <p:cNvSpPr>
            <a:spLocks noGrp="1"/>
          </p:cNvSpPr>
          <p:nvPr>
            <p:ph type="title"/>
          </p:nvPr>
        </p:nvSpPr>
        <p:spPr/>
        <p:txBody>
          <a:bodyPr/>
          <a:lstStyle/>
          <a:p>
            <a:r>
              <a:rPr lang="en-US" dirty="0"/>
              <a:t>Limitations &amp; Future Directions</a:t>
            </a:r>
          </a:p>
        </p:txBody>
      </p:sp>
      <p:sp>
        <p:nvSpPr>
          <p:cNvPr id="4" name="Content Placeholder 3">
            <a:extLst>
              <a:ext uri="{FF2B5EF4-FFF2-40B4-BE49-F238E27FC236}">
                <a16:creationId xmlns:a16="http://schemas.microsoft.com/office/drawing/2014/main" id="{D6862BED-BBC1-A234-51E1-1CBBFDC90FF4}"/>
              </a:ext>
            </a:extLst>
          </p:cNvPr>
          <p:cNvSpPr>
            <a:spLocks noGrp="1"/>
          </p:cNvSpPr>
          <p:nvPr>
            <p:ph idx="1"/>
          </p:nvPr>
        </p:nvSpPr>
        <p:spPr>
          <a:xfrm>
            <a:off x="431671" y="960816"/>
            <a:ext cx="2841860" cy="3633409"/>
          </a:xfrm>
        </p:spPr>
        <p:txBody>
          <a:bodyPr>
            <a:normAutofit fontScale="92500" lnSpcReduction="10000"/>
          </a:bodyPr>
          <a:lstStyle/>
          <a:p>
            <a:pPr>
              <a:lnSpc>
                <a:spcPct val="140000"/>
              </a:lnSpc>
            </a:pPr>
            <a:r>
              <a:rPr lang="en-US" sz="1700" b="1" dirty="0">
                <a:solidFill>
                  <a:srgbClr val="0C234B"/>
                </a:solidFill>
                <a:latin typeface="Arial" panose="020B0604020202020204" pitchFamily="34" charset="0"/>
                <a:ea typeface="+mj-ea"/>
                <a:cs typeface="Arial" panose="020B0604020202020204" pitchFamily="34" charset="0"/>
              </a:rPr>
              <a:t>Limitations</a:t>
            </a:r>
          </a:p>
          <a:p>
            <a:pPr marL="257175" indent="-257175">
              <a:lnSpc>
                <a:spcPct val="140000"/>
              </a:lnSpc>
              <a:buClr>
                <a:srgbClr val="BE0B34"/>
              </a:buClr>
              <a:buFont typeface="Arial"/>
              <a:buChar char="•"/>
            </a:pPr>
            <a:r>
              <a:rPr lang="en-US" sz="1400" dirty="0">
                <a:solidFill>
                  <a:srgbClr val="0C234B"/>
                </a:solidFill>
                <a:latin typeface="Arial" panose="020B0604020202020204" pitchFamily="34" charset="0"/>
                <a:ea typeface="+mj-ea"/>
                <a:cs typeface="Arial" panose="020B0604020202020204" pitchFamily="34" charset="0"/>
              </a:rPr>
              <a:t>Subsampling (n=3,000) may limit generalizability</a:t>
            </a:r>
          </a:p>
          <a:p>
            <a:pPr marL="257175" indent="-257175">
              <a:lnSpc>
                <a:spcPct val="140000"/>
              </a:lnSpc>
              <a:buClr>
                <a:srgbClr val="BE0B34"/>
              </a:buClr>
              <a:buFont typeface="Arial"/>
              <a:buChar char="•"/>
            </a:pPr>
            <a:r>
              <a:rPr lang="en-US" sz="1400" dirty="0">
                <a:solidFill>
                  <a:srgbClr val="0C234B"/>
                </a:solidFill>
                <a:latin typeface="Arial" panose="020B0604020202020204" pitchFamily="34" charset="0"/>
                <a:ea typeface="+mj-ea"/>
                <a:cs typeface="Arial" panose="020B0604020202020204" pitchFamily="34" charset="0"/>
              </a:rPr>
              <a:t>Results dependent on feature selection and preprocessing choices</a:t>
            </a:r>
          </a:p>
          <a:p>
            <a:pPr marL="257175" indent="-257175">
              <a:lnSpc>
                <a:spcPct val="140000"/>
              </a:lnSpc>
              <a:buClr>
                <a:srgbClr val="BE0B34"/>
              </a:buClr>
              <a:buFont typeface="Arial"/>
              <a:buChar char="•"/>
            </a:pPr>
            <a:r>
              <a:rPr lang="en-US" sz="1400" dirty="0">
                <a:solidFill>
                  <a:srgbClr val="0C234B"/>
                </a:solidFill>
                <a:latin typeface="Arial" panose="020B0604020202020204" pitchFamily="34" charset="0"/>
                <a:ea typeface="+mj-ea"/>
                <a:cs typeface="Arial" panose="020B0604020202020204" pitchFamily="34" charset="0"/>
              </a:rPr>
              <a:t>Jaccard requires binary encoding which creates potential information loss</a:t>
            </a:r>
          </a:p>
          <a:p>
            <a:pPr marL="257175" indent="-257175">
              <a:lnSpc>
                <a:spcPct val="140000"/>
              </a:lnSpc>
              <a:buClr>
                <a:srgbClr val="BE0B34"/>
              </a:buClr>
              <a:buFont typeface="Arial"/>
              <a:buChar char="•"/>
            </a:pPr>
            <a:r>
              <a:rPr lang="en-US" sz="1400" dirty="0">
                <a:solidFill>
                  <a:srgbClr val="0C234B"/>
                </a:solidFill>
                <a:latin typeface="Arial" panose="020B0604020202020204" pitchFamily="34" charset="0"/>
                <a:ea typeface="+mj-ea"/>
                <a:cs typeface="Arial" panose="020B0604020202020204" pitchFamily="34" charset="0"/>
              </a:rPr>
              <a:t>Analysis based on unweighted data (limits population inference).</a:t>
            </a:r>
          </a:p>
        </p:txBody>
      </p:sp>
      <p:sp>
        <p:nvSpPr>
          <p:cNvPr id="5" name="Content Placeholder 4">
            <a:extLst>
              <a:ext uri="{FF2B5EF4-FFF2-40B4-BE49-F238E27FC236}">
                <a16:creationId xmlns:a16="http://schemas.microsoft.com/office/drawing/2014/main" id="{E89EFD6A-E4A2-1612-901D-79EC735672FA}"/>
              </a:ext>
            </a:extLst>
          </p:cNvPr>
          <p:cNvSpPr>
            <a:spLocks noGrp="1"/>
          </p:cNvSpPr>
          <p:nvPr>
            <p:ph idx="13"/>
          </p:nvPr>
        </p:nvSpPr>
        <p:spPr>
          <a:xfrm>
            <a:off x="3579442" y="960816"/>
            <a:ext cx="2841860" cy="3633409"/>
          </a:xfrm>
        </p:spPr>
        <p:txBody>
          <a:bodyPr/>
          <a:lstStyle/>
          <a:p>
            <a:pPr>
              <a:lnSpc>
                <a:spcPct val="140000"/>
              </a:lnSpc>
            </a:pPr>
            <a:r>
              <a:rPr lang="en-US" sz="1700" b="1" dirty="0">
                <a:solidFill>
                  <a:srgbClr val="0C234B"/>
                </a:solidFill>
                <a:latin typeface="Arial" panose="020B0604020202020204" pitchFamily="34" charset="0"/>
                <a:ea typeface="+mj-ea"/>
                <a:cs typeface="Arial" panose="020B0604020202020204" pitchFamily="34" charset="0"/>
              </a:rPr>
              <a:t>Future Research</a:t>
            </a:r>
          </a:p>
          <a:p>
            <a:pPr marL="257175" indent="-257175">
              <a:lnSpc>
                <a:spcPct val="130000"/>
              </a:lnSpc>
              <a:buClr>
                <a:srgbClr val="BE0B34"/>
              </a:buClr>
              <a:buFont typeface="Arial"/>
              <a:buChar char="•"/>
            </a:pPr>
            <a:r>
              <a:rPr lang="en-US" sz="1300" dirty="0">
                <a:solidFill>
                  <a:srgbClr val="0C234B"/>
                </a:solidFill>
                <a:latin typeface="Arial" panose="020B0604020202020204" pitchFamily="34" charset="0"/>
                <a:ea typeface="+mj-ea"/>
                <a:cs typeface="Arial" panose="020B0604020202020204" pitchFamily="34" charset="0"/>
              </a:rPr>
              <a:t>Evaluate additional distance metrics (e.g. Gower, Hamming)</a:t>
            </a:r>
          </a:p>
          <a:p>
            <a:pPr marL="257175" indent="-257175">
              <a:lnSpc>
                <a:spcPct val="130000"/>
              </a:lnSpc>
              <a:buClr>
                <a:srgbClr val="BE0B34"/>
              </a:buClr>
              <a:buFont typeface="Arial"/>
              <a:buChar char="•"/>
            </a:pPr>
            <a:r>
              <a:rPr lang="en-US" sz="1300" dirty="0">
                <a:solidFill>
                  <a:srgbClr val="0C234B"/>
                </a:solidFill>
                <a:latin typeface="Arial" panose="020B0604020202020204" pitchFamily="34" charset="0"/>
                <a:ea typeface="+mj-ea"/>
                <a:cs typeface="Arial" panose="020B0604020202020204" pitchFamily="34" charset="0"/>
              </a:rPr>
              <a:t>Test across different datasets and EHR systems</a:t>
            </a:r>
          </a:p>
          <a:p>
            <a:pPr marL="257175" indent="-257175">
              <a:lnSpc>
                <a:spcPct val="130000"/>
              </a:lnSpc>
              <a:buClr>
                <a:srgbClr val="BE0B34"/>
              </a:buClr>
              <a:buFont typeface="Arial"/>
              <a:buChar char="•"/>
            </a:pPr>
            <a:r>
              <a:rPr lang="en-US" sz="1300" dirty="0">
                <a:solidFill>
                  <a:srgbClr val="0C234B"/>
                </a:solidFill>
                <a:latin typeface="Arial" panose="020B0604020202020204" pitchFamily="34" charset="0"/>
                <a:ea typeface="+mj-ea"/>
                <a:cs typeface="Arial" panose="020B0604020202020204" pitchFamily="34" charset="0"/>
              </a:rPr>
              <a:t>Explore impact of alternative clustering algorithms</a:t>
            </a:r>
          </a:p>
          <a:p>
            <a:pPr marL="257175" indent="-257175">
              <a:lnSpc>
                <a:spcPct val="130000"/>
              </a:lnSpc>
              <a:buClr>
                <a:srgbClr val="BE0B34"/>
              </a:buClr>
              <a:buFont typeface="Arial"/>
              <a:buChar char="•"/>
            </a:pPr>
            <a:r>
              <a:rPr lang="en-US" sz="1300" dirty="0">
                <a:solidFill>
                  <a:srgbClr val="0C234B"/>
                </a:solidFill>
                <a:latin typeface="Arial" panose="020B0604020202020204" pitchFamily="34" charset="0"/>
                <a:ea typeface="+mj-ea"/>
                <a:cs typeface="Arial" panose="020B0604020202020204" pitchFamily="34" charset="0"/>
              </a:rPr>
              <a:t>Develop standardized guidelines for metric selection in phenotyping</a:t>
            </a:r>
          </a:p>
        </p:txBody>
      </p:sp>
    </p:spTree>
    <p:extLst>
      <p:ext uri="{BB962C8B-B14F-4D97-AF65-F5344CB8AC3E}">
        <p14:creationId xmlns:p14="http://schemas.microsoft.com/office/powerpoint/2010/main" val="179755795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574082" y="872625"/>
            <a:ext cx="2699448" cy="3813093"/>
          </a:xfrm>
        </p:spPr>
        <p:txBody>
          <a:bodyPr/>
          <a:lstStyle/>
          <a:p>
            <a:pPr marL="0" indent="0" defTabSz="685800">
              <a:lnSpc>
                <a:spcPct val="140000"/>
              </a:lnSpc>
              <a:buClrTx/>
              <a:buNone/>
            </a:pPr>
            <a:r>
              <a:rPr lang="en-US" sz="1700" b="1" dirty="0">
                <a:solidFill>
                  <a:srgbClr val="0C234B"/>
                </a:solidFill>
                <a:latin typeface="Arial" panose="020B0604020202020204" pitchFamily="34" charset="0"/>
                <a:ea typeface="+mj-ea"/>
                <a:cs typeface="Arial" panose="020B0604020202020204" pitchFamily="34" charset="0"/>
              </a:rPr>
              <a:t>Key Findings</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Distance metric significantly affects clustering stability</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Jaccard outperforms other metrics</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Stability improved with increasing k only for Jaccard</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Results were robust across bootstrap samples</a:t>
            </a:r>
            <a:endParaRPr sz="1400" dirty="0">
              <a:solidFill>
                <a:srgbClr val="0C234B"/>
              </a:solidFill>
              <a:latin typeface="Arial" panose="020B0604020202020204" pitchFamily="34" charset="0"/>
              <a:ea typeface="+mj-ea"/>
              <a:cs typeface="Arial" panose="020B0604020202020204" pitchFamily="34" charset="0"/>
            </a:endParaRPr>
          </a:p>
        </p:txBody>
      </p:sp>
      <p:sp>
        <p:nvSpPr>
          <p:cNvPr id="4" name="Content Placeholder 3"/>
          <p:cNvSpPr>
            <a:spLocks noGrp="1"/>
          </p:cNvSpPr>
          <p:nvPr>
            <p:ph idx="13"/>
          </p:nvPr>
        </p:nvSpPr>
        <p:spPr>
          <a:xfrm>
            <a:off x="3542453" y="872625"/>
            <a:ext cx="2699448" cy="3813093"/>
          </a:xfrm>
        </p:spPr>
        <p:txBody>
          <a:bodyPr/>
          <a:lstStyle/>
          <a:p>
            <a:pPr marL="0" indent="0" defTabSz="685800">
              <a:lnSpc>
                <a:spcPct val="140000"/>
              </a:lnSpc>
              <a:buClrTx/>
              <a:buNone/>
            </a:pPr>
            <a:r>
              <a:rPr lang="en-US" sz="1700" b="1" dirty="0">
                <a:solidFill>
                  <a:srgbClr val="0C234B"/>
                </a:solidFill>
                <a:latin typeface="Arial" panose="020B0604020202020204" pitchFamily="34" charset="0"/>
                <a:ea typeface="+mj-ea"/>
                <a:cs typeface="Arial" panose="020B0604020202020204" pitchFamily="34" charset="0"/>
              </a:rPr>
              <a:t>Takeaways &amp; Impact</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Distance metric is a primary modeling decision</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Binary similarity measures better for phenotyping</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Jaccard supports more reproducible phenotyping</a:t>
            </a:r>
          </a:p>
          <a:p>
            <a:pPr defTabSz="685800">
              <a:lnSpc>
                <a:spcPct val="130000"/>
              </a:lnSpc>
            </a:pPr>
            <a:r>
              <a:rPr lang="en-US" sz="1400" dirty="0">
                <a:solidFill>
                  <a:srgbClr val="0C234B"/>
                </a:solidFill>
                <a:latin typeface="Arial" panose="020B0604020202020204" pitchFamily="34" charset="0"/>
                <a:ea typeface="+mj-ea"/>
                <a:cs typeface="Arial" panose="020B0604020202020204" pitchFamily="34" charset="0"/>
              </a:rPr>
              <a:t>Improves reliability of computational phenotyping</a:t>
            </a:r>
            <a:r>
              <a:rPr lang="en-US" dirty="0"/>
              <a:t>. </a:t>
            </a:r>
            <a:endParaRPr dirty="0"/>
          </a:p>
        </p:txBody>
      </p:sp>
    </p:spTree>
  </p:cSld>
  <p:clrMapOvr>
    <a:masterClrMapping/>
  </p:clrMapOvr>
</p:sld>
</file>

<file path=ppt/theme/theme1.xml><?xml version="1.0" encoding="utf-8"?>
<a:theme xmlns:a="http://schemas.openxmlformats.org/drawingml/2006/main" name="Default - Title Slide">
  <a:themeElements>
    <a:clrScheme name="Default - Title 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 Title Slide">
      <a:majorFont>
        <a:latin typeface="Calibri"/>
        <a:ea typeface="ヒラギノ角ゴ ProN W3"/>
        <a:cs typeface="ヒラギノ角ゴ ProN W3"/>
      </a:majorFont>
      <a:minorFont>
        <a:latin typeface="Calibri"/>
        <a:ea typeface="ヒラギノ角ゴ ProN W3"/>
        <a:cs typeface="ヒラギノ角ゴ ProN W3"/>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defRPr>
        </a:defPPr>
      </a:lstStyle>
    </a:spDef>
    <a:lnDef>
      <a:spPr bwMode="auto">
        <a:xfrm>
          <a:off x="0" y="0"/>
          <a:ext cx="1" cy="1"/>
        </a:xfrm>
        <a:custGeom>
          <a:avLst/>
          <a:gdLst/>
          <a:ahLst/>
          <a:cxnLst/>
          <a:rect l="0" t="0" r="0" b="0"/>
          <a:pathLst/>
        </a:custGeom>
        <a:solidFill>
          <a:schemeClr val="accent1"/>
        </a:solidFill>
        <a:ln w="25400" cap="flat" cmpd="sng" algn="ctr">
          <a:solidFill>
            <a:srgbClr val="000000"/>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200" b="0" i="0" u="none" strike="noStrike" cap="none" normalizeH="0" baseline="0">
            <a:ln>
              <a:noFill/>
            </a:ln>
            <a:solidFill>
              <a:srgbClr val="000000"/>
            </a:solidFill>
            <a:effectLst/>
            <a:latin typeface="Gill Sans" charset="0"/>
            <a:ea typeface="ヒラギノ角ゴ ProN W3" charset="0"/>
            <a:cs typeface="ヒラギノ角ゴ ProN W3" charset="0"/>
            <a:sym typeface="Gill Sans" charset="0"/>
          </a:defRPr>
        </a:defPPr>
      </a:lstStyle>
    </a:lnDef>
    <a:txDef>
      <a:spPr bwMode="auto">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a:spPr>
      <a:bodyPr vert="horz" wrap="square" lIns="38100" tIns="38100" rIns="38100" bIns="38100" numCol="1" anchor="ctr" anchorCtr="0" compatLnSpc="1">
        <a:prstTxWarp prst="textNoShape">
          <a:avLst/>
        </a:prstTxWarp>
      </a:bodyPr>
      <a:lstStyle>
        <a:defPPr>
          <a:defRPr sz="3400" b="0" i="0" dirty="0" smtClean="0">
            <a:latin typeface="Times New Roman"/>
          </a:defRPr>
        </a:defPPr>
      </a:lstStyle>
    </a:txDef>
  </a:objectDefaults>
  <a:extraClrSchemeLst>
    <a:extraClrScheme>
      <a:clrScheme name="Default - Title Slid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2864</TotalTime>
  <Pages>0</Pages>
  <Words>3773</Words>
  <Characters>0</Characters>
  <Application>Microsoft Office PowerPoint</Application>
  <PresentationFormat>Custom</PresentationFormat>
  <Lines>0</Lines>
  <Paragraphs>427</Paragraphs>
  <Slides>14</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Gill Sans</vt:lpstr>
      <vt:lpstr>Verdana</vt:lpstr>
      <vt:lpstr>Default - Title Slide</vt:lpstr>
      <vt:lpstr>Clustering Stability in Healthcare Data:  The Impact of Distance Metrics on Computational Phenotyping</vt:lpstr>
      <vt:lpstr>Clustering Stability in Healthcare Data</vt:lpstr>
      <vt:lpstr>Introduction</vt:lpstr>
      <vt:lpstr>Research Gap</vt:lpstr>
      <vt:lpstr>Methods</vt:lpstr>
      <vt:lpstr>Data Source: Behavioral Risk Factor Surveillance System (BRFSS)</vt:lpstr>
      <vt:lpstr>Data Processing &amp; Sample Reduction</vt:lpstr>
      <vt:lpstr>Dataset Processing Summary</vt:lpstr>
      <vt:lpstr>Clustering Setup</vt:lpstr>
      <vt:lpstr>Results I</vt:lpstr>
      <vt:lpstr>Results II</vt:lpstr>
      <vt:lpstr>Discussion</vt:lpstr>
      <vt:lpstr>Limitations &amp; Future Directions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 Love</dc:creator>
  <cp:lastModifiedBy>Todd Adams</cp:lastModifiedBy>
  <cp:revision>219</cp:revision>
  <cp:lastPrinted>2014-05-13T16:42:03Z</cp:lastPrinted>
  <dcterms:modified xsi:type="dcterms:W3CDTF">2026-04-28T05:50:49Z</dcterms:modified>
</cp:coreProperties>
</file>